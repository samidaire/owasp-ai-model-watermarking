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24"/>
    <p:sldId id="269" r:id="rId25"/>
    <p:sldId id="270" r:id="rId26"/>
    <p:sldId id="271" r:id="rId27"/>
    <p:sldId id="272" r:id="rId28"/>
    <p:sldId id="273" r:id="rId29"/>
    <p:sldId id="264" r:id="rId10"/>
    <p:sldId id="265" r:id="rId11"/>
    <p:sldId id="274" r:id="rId30"/>
    <p:sldId id="275" r:id="rId31"/>
    <p:sldId id="276" r:id="rId32"/>
    <p:sldId id="266" r:id="rId12"/>
    <p:sldId id="277" r:id="rId33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  <p:embeddedFont>
      <p:font typeface="Times New Roman Bold Italics" panose="020B0604020202020204" charset="0"/>
      <p:regular r:id="rId18"/>
    </p:embeddedFont>
    <p:embeddedFont>
      <p:font typeface="Times New Roman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" y="-5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20.xml"/><Relationship Id="rId13" Type="http://schemas.openxmlformats.org/officeDocument/2006/relationships/slide" Target="slides/slide2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1.xml"/><Relationship Id="rId3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Sigil is the system we built. The watermark lives in the weights; ownership is proven with a zero-knowledge proof, so nobody learns the watermark. Everything shown today runs on this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moves: embed, commit, prove, verify. The important part is the last box: a valid zk-SNARK alone is not enough, the verifier ties the proof to the owner, the exact model file and a fresh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browser talks to a small local Python server. The server runs the demo scripts, which use our sigil SDK, PyTorch and the Circom/SnarkJS toolchain. The same proof also verifies on a Solidity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in the app: Overview, Verify and the Robustness lab. Pages start empty, so everything the audience sees comes from runs they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test builds the model (attacked copies are made live), measures accuracy, reads the watermark and, if it's there, makes and verifies a new Groth16 proof for that exact file. Accept at most 8 of 64 bits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come from the saved results of real runs (MNIST CNN, 64-bit signature, accept at 8 of 64 wrong).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of the six expected outcomes are done and demonstrable today; the backend database and extraction resistance are Semester 8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state the limits up front: they are also shown in the app's presenter notes. Semester 8 closes the biggest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zip, one setup command, one check command. A teammate's AI assistant can deploy it by following DEPLOY.md.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9145" y="2748410"/>
            <a:ext cx="10724436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737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“OWASP AI Model Watermarking”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08962" y="4435169"/>
            <a:ext cx="11062202" cy="349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1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Presented by</a:t>
            </a:r>
          </a:p>
          <a:p>
            <a:pPr algn="ctr">
              <a:lnSpc>
                <a:spcPts val="3264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Shaikh Arfat Zakir [231846]</a:t>
            </a:r>
          </a:p>
          <a:p>
            <a:pPr algn="ctr">
              <a:lnSpc>
                <a:spcPts val="3264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Daire Sami Navid [231813]</a:t>
            </a:r>
          </a:p>
          <a:p>
            <a:pPr algn="ctr">
              <a:lnSpc>
                <a:spcPts val="3264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Ansari Mohamed Abdullah [231803]</a:t>
            </a:r>
          </a:p>
          <a:p>
            <a:pPr algn="ctr">
              <a:lnSpc>
                <a:spcPts val="3264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Bandiwadekar Yash [231810]</a:t>
            </a:r>
          </a:p>
          <a:p>
            <a:pPr algn="ctr">
              <a:lnSpc>
                <a:spcPts val="3264"/>
              </a:lnSpc>
            </a:pPr>
            <a:endParaRPr lang="en-US" sz="24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2856"/>
              </a:lnSpc>
            </a:pPr>
            <a:r>
              <a:rPr lang="en-US" sz="21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Under the guidance of </a:t>
            </a:r>
          </a:p>
          <a:p>
            <a:pPr algn="ctr">
              <a:lnSpc>
                <a:spcPts val="2856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Shafi Pathan</a:t>
            </a:r>
          </a:p>
          <a:p>
            <a:pPr algn="ctr">
              <a:lnSpc>
                <a:spcPts val="2856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(Principal)</a:t>
            </a:r>
          </a:p>
          <a:p>
            <a:pPr algn="ctr">
              <a:lnSpc>
                <a:spcPts val="3264"/>
              </a:lnSpc>
            </a:pPr>
            <a:endParaRPr lang="en-US"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92824" y="1046674"/>
            <a:ext cx="4894478" cy="1968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</a:p>
          <a:p>
            <a:pPr algn="ctr">
              <a:lnSpc>
                <a:spcPts val="3240"/>
              </a:lnSpc>
            </a:pPr>
            <a:r>
              <a:rPr lang="en-US" sz="27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on</a:t>
            </a:r>
          </a:p>
        </p:txBody>
      </p:sp>
      <p:sp>
        <p:nvSpPr>
          <p:cNvPr id="5" name="AutoShape 5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8" name="Freeform 8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Outline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100263"/>
            <a:ext cx="7680960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Responsibilities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Framework &amp; Methodology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Built: Sigil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</a:p>
        </p:txBody>
      </p:sp>
      <p:sp>
        <p:nvSpPr>
          <p:cNvPr id="10" name="TextBox 5b"/>
          <p:cNvSpPr txBox="1"/>
          <p:nvPr/>
        </p:nvSpPr>
        <p:spPr>
          <a:xfrm>
            <a:off x="9326880" y="2100263"/>
            <a:ext cx="7680960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Dashboard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Any Model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Timeline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vs Achieved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Next Steps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&amp; Deliverables</a:t>
            </a:r>
          </a:p>
          <a:p>
            <a:pPr marL="787241" lvl="1" indent="-393621" algn="l">
              <a:lnSpc>
                <a:spcPts val="5220"/>
              </a:lnSpc>
              <a:buFont typeface="Arial"/>
              <a:buChar char="•"/>
            </a:pPr>
            <a:r>
              <a:rPr lang="en-US" sz="4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Responsibilities</a:t>
              </a:r>
              <a:r>
                <a:rPr lang="en-US" sz="6600">
                  <a:solidFill>
                    <a:srgbClr val="07376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346008"/>
            <a:ext cx="15590520" cy="603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8778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Sami Daire (231813) – Project Lead, Cryptography &amp; Verification Developer</a:t>
            </a:r>
          </a:p>
          <a:p>
            <a:pPr marL="760095" lvl="1" indent="-380048" algn="l">
              <a:lnSpc>
                <a:spcPts val="8778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Mohamed Ansari (231803) – AI &amp; Watermarking Developer</a:t>
            </a:r>
          </a:p>
          <a:p>
            <a:pPr marL="760095" lvl="1" indent="-380048" algn="l">
              <a:lnSpc>
                <a:spcPts val="8778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Arfat Shaikh (231846) – Frontend &amp; Integration Developer</a:t>
            </a:r>
          </a:p>
          <a:p>
            <a:pPr marL="760095" lvl="1" indent="-380048" algn="l">
              <a:lnSpc>
                <a:spcPts val="8778"/>
              </a:lnSpc>
              <a:buFont typeface="Arial"/>
              <a:buChar char="•"/>
            </a:pP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Yash Bandiwadekar (231810) – Backend Developer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00062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  <a:r>
                <a:rPr lang="en-US" sz="6600">
                  <a:solidFill>
                    <a:srgbClr val="07376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309308"/>
            <a:ext cx="15590520" cy="6028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745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secure AI model watermarking system that embeds cryptographic watermarks into AI/ML models for verifiable ownership and intellectual property protection.</a:t>
            </a:r>
          </a:p>
          <a:p>
            <a:pPr marL="760095" lvl="1" indent="-380048" algn="l">
              <a:lnSpc>
                <a:spcPts val="4745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 privacy-preserving ownership verification mechanism using Zero-Knowledge Proof (ZKP), enabling authentication without revealing the embedded watermark.</a:t>
            </a:r>
          </a:p>
          <a:p>
            <a:pPr marL="760095" lvl="1" indent="-380048" algn="l">
              <a:lnSpc>
                <a:spcPts val="4745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the robustness of the embedded watermark against model modification attacks such as fine-tuning, pruning, quantization, compression, and model extraction while maintaining model performance.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  <a:r>
                <a:rPr lang="en-US" sz="6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746058"/>
            <a:ext cx="15590520" cy="200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secure and robust AI model watermarking system that enables verifiable ownership authentication while protecting AI models against theft, tampering, and unauthorized use.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-135731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 </a:t>
              </a: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837432"/>
              </p:ext>
            </p:extLst>
          </p:nvPr>
        </p:nvGraphicFramePr>
        <p:xfrm>
          <a:off x="1285875" y="1587137"/>
          <a:ext cx="15716250" cy="733983"/>
        </p:xfrm>
        <a:graphic>
          <a:graphicData uri="http://schemas.openxmlformats.org/drawingml/2006/table">
            <a:tbl>
              <a:tblPr/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9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5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1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983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Year</a:t>
                      </a:r>
                      <a:endParaRPr lang="en-US" sz="1100" dirty="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Paper Title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Methodology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Findings</a:t>
                      </a:r>
                      <a:endParaRPr lang="en-US" sz="110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</a:t>
                      </a:r>
                      <a:endParaRPr lang="en-US" sz="1100" dirty="0"/>
                    </a:p>
                  </a:txBody>
                  <a:tcPr marT="91440" marB="9144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FA228C-5D21-A414-8219-A81497A13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92296"/>
              </p:ext>
            </p:extLst>
          </p:nvPr>
        </p:nvGraphicFramePr>
        <p:xfrm>
          <a:off x="1301114" y="2321120"/>
          <a:ext cx="15701010" cy="5946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546">
                  <a:extLst>
                    <a:ext uri="{9D8B030D-6E8A-4147-A177-3AD203B41FA5}">
                      <a16:colId xmlns:a16="http://schemas.microsoft.com/office/drawing/2014/main" val="3839647580"/>
                    </a:ext>
                  </a:extLst>
                </a:gridCol>
                <a:gridCol w="4963868">
                  <a:extLst>
                    <a:ext uri="{9D8B030D-6E8A-4147-A177-3AD203B41FA5}">
                      <a16:colId xmlns:a16="http://schemas.microsoft.com/office/drawing/2014/main" val="511615515"/>
                    </a:ext>
                  </a:extLst>
                </a:gridCol>
                <a:gridCol w="5039343">
                  <a:extLst>
                    <a:ext uri="{9D8B030D-6E8A-4147-A177-3AD203B41FA5}">
                      <a16:colId xmlns:a16="http://schemas.microsoft.com/office/drawing/2014/main" val="1693056402"/>
                    </a:ext>
                  </a:extLst>
                </a:gridCol>
                <a:gridCol w="3925253">
                  <a:extLst>
                    <a:ext uri="{9D8B030D-6E8A-4147-A177-3AD203B41FA5}">
                      <a16:colId xmlns:a16="http://schemas.microsoft.com/office/drawing/2014/main" val="922729744"/>
                    </a:ext>
                  </a:extLst>
                </a:gridCol>
              </a:tblGrid>
              <a:tr h="4324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Methodology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Limitation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What we can improve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0126273"/>
                  </a:ext>
                </a:extLst>
              </a:tr>
              <a:tr h="12703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TdN</a:t>
                      </a:r>
                      <a:r>
                        <a:rPr lang="en-US" sz="1600" kern="100" dirty="0">
                          <a:effectLst/>
                        </a:rPr>
                        <a:t> (2023)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Trapdoor/normalization-based watermarking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Mainly focuses on ownership &amp; ambiguity attacks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Test against more attacks like extraction, inversion, compression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8751558"/>
                  </a:ext>
                </a:extLst>
              </a:tr>
              <a:tr h="12703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IPRemover</a:t>
                      </a:r>
                      <a:r>
                        <a:rPr lang="en-US" sz="1600" kern="100" dirty="0">
                          <a:effectLst/>
                        </a:rPr>
                        <a:t> (2024)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Uses model inversion to remove/bypass watermarks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Shows existing watermarking can be attacked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Build watermark resistant to model-inversion/extraction attacks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4889326"/>
                  </a:ext>
                </a:extLst>
              </a:tr>
              <a:tr h="8514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SecureNet (2024)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Backdoor + license-key based model protection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Depends heavily on backdoor behavior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Combine watermark + cryptographic license verification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2635290"/>
                  </a:ext>
                </a:extLst>
              </a:tr>
              <a:tr h="8514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PK-Judge (2025)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Asymmetric cryptography + digital signatures + watermark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Watermark capacity/BER limitations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Optimize watermark size + robustness + model accuracy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20902959"/>
                  </a:ext>
                </a:extLst>
              </a:tr>
              <a:tr h="12703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IP Protection Systematization (2023/24)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Reviews watermarking, fingerprinting, access control &amp; attacks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No complete implementation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Build an end-to-end protection framework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88462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205263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Framework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079308"/>
            <a:ext cx="15590520" cy="6163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Programming Languages: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Python, JavaScript, HTML5, CSS3</a:t>
            </a:r>
          </a:p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/ Machine Learning: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TensorFlow / PyTorch, NumPy, Scikit-learn</a:t>
            </a:r>
          </a:p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Cryptography &amp; Security: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SHA-256, RSA / ECC, Circom, SnarkJS (zk-SNARK)</a:t>
            </a:r>
          </a:p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Development: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React.js, Tailwind CSS, FastAPI / Flask</a:t>
            </a:r>
          </a:p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&amp; Storage: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PostgreSQL / MongoDB</a:t>
            </a:r>
          </a:p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Tools: 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Studio Code, Jupyter Notebook, Git &amp; GitHub</a:t>
            </a:r>
          </a:p>
          <a:p>
            <a:pPr algn="l">
              <a:lnSpc>
                <a:spcPts val="5334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Formats: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.h5, .pt, .onnx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5" name="Freeform 5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300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3233658" y="369786"/>
            <a:ext cx="11820683" cy="7880455"/>
          </a:xfrm>
          <a:custGeom>
            <a:avLst/>
            <a:gdLst/>
            <a:ahLst/>
            <a:cxnLst/>
            <a:rect l="l" t="t" r="r" b="b"/>
            <a:pathLst>
              <a:path w="11820683" h="7880455">
                <a:moveTo>
                  <a:pt x="0" y="0"/>
                </a:moveTo>
                <a:lnTo>
                  <a:pt x="11820684" y="0"/>
                </a:lnTo>
                <a:lnTo>
                  <a:pt x="11820684" y="7880455"/>
                </a:lnTo>
                <a:lnTo>
                  <a:pt x="0" y="7880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We Built: Sigil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1371600" y="2468880"/>
            <a:ext cx="7589520" cy="6035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260"/>
              </a:spcAft>
            </a:pPr>
            <a:r>
              <a:rPr sz="3219" b="1">
                <a:solidFill>
                  <a:srgbClr val="002060"/>
                </a:solidFill>
                <a:latin typeface="Times New Roman"/>
              </a:rPr>
              <a:t>Prove a model is yours. Reveal nothing.</a:t>
            </a:r>
          </a:p>
          <a:p>
            <a:pPr algn="l" marL="365760" indent="-365760">
              <a:spcAft>
                <a:spcPts val="990"/>
              </a:spcAft>
              <a:buFont typeface="Arial"/>
              <a:buChar char="•"/>
            </a:pPr>
            <a:r>
              <a:rPr sz="2529" b="0">
                <a:solidFill>
                  <a:srgbClr val="1A1A1A"/>
                </a:solidFill>
                <a:latin typeface="Calibri"/>
              </a:rPr>
              <a:t>A 64-bit watermark hidden in one layer of the network, at an accuracy cost of 0.03 percentage points</a:t>
            </a:r>
          </a:p>
          <a:p>
            <a:pPr algn="l" marL="365760" indent="-365760">
              <a:spcAft>
                <a:spcPts val="990"/>
              </a:spcAft>
              <a:buFont typeface="Arial"/>
              <a:buChar char="•"/>
            </a:pPr>
            <a:r>
              <a:rPr sz="2529" b="0">
                <a:solidFill>
                  <a:srgbClr val="1A1A1A"/>
                </a:solidFill>
                <a:latin typeface="Calibri"/>
              </a:rPr>
              <a:t>A Groth16 zero-knowledge proof of ownership: the verifier learns 0 of the 64 watermark bits</a:t>
            </a:r>
          </a:p>
          <a:p>
            <a:pPr algn="l" marL="365760" indent="-365760">
              <a:spcAft>
                <a:spcPts val="990"/>
              </a:spcAft>
              <a:buFont typeface="Arial"/>
              <a:buChar char="•"/>
            </a:pPr>
            <a:r>
              <a:rPr sz="2529" b="0">
                <a:solidFill>
                  <a:srgbClr val="1A1A1A"/>
                </a:solidFill>
                <a:latin typeface="Calibri"/>
              </a:rPr>
              <a:t>Every proof is bound to the owner's Ed25519 key, the exact model file and the claim</a:t>
            </a:r>
          </a:p>
          <a:p>
            <a:pPr algn="l" marL="365760" indent="-365760">
              <a:spcAft>
                <a:spcPts val="990"/>
              </a:spcAft>
              <a:buFont typeface="Arial"/>
              <a:buChar char="•"/>
            </a:pPr>
            <a:r>
              <a:rPr sz="2529" b="0">
                <a:solidFill>
                  <a:srgbClr val="1A1A1A"/>
                </a:solidFill>
                <a:latin typeface="Calibri"/>
              </a:rPr>
              <a:t>A web dashboard plus a Python SDK and command line; runs fully offline on a laptop</a:t>
            </a:r>
          </a:p>
        </p:txBody>
      </p:sp>
      <p:pic>
        <p:nvPicPr>
          <p:cNvPr id="11" name="Picture 10" descr="home-he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514600"/>
            <a:ext cx="7726679" cy="4829174"/>
          </a:xfrm>
          <a:prstGeom prst="rect">
            <a:avLst/>
          </a:prstGeom>
          <a:ln w="15875">
            <a:solidFill>
              <a:srgbClr val="B8C4D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281160" y="7452360"/>
            <a:ext cx="7726679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spcAft>
                <a:spcPts val="720"/>
              </a:spcAft>
            </a:pPr>
            <a:r>
              <a:rPr sz="1839" b="0">
                <a:solidFill>
                  <a:srgbClr val="4A4A4A"/>
                </a:solidFill>
                <a:latin typeface="Calibri"/>
              </a:rPr>
              <a:t>The project's home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How It Works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sp>
        <p:nvSpPr>
          <p:cNvPr id="10" name="Rounded Rectangle 9"/>
          <p:cNvSpPr/>
          <p:nvPr/>
        </p:nvSpPr>
        <p:spPr>
          <a:xfrm>
            <a:off x="1371600" y="24688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5920" y="269748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118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260"/>
              </a:spcAft>
            </a:pPr>
            <a:r>
              <a:rPr sz="3219" b="1">
                <a:solidFill>
                  <a:srgbClr val="002060"/>
                </a:solidFill>
                <a:latin typeface="Times New Roman"/>
              </a:rPr>
              <a:t>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0624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0">
                <a:solidFill>
                  <a:srgbClr val="1A1A1A"/>
                </a:solidFill>
                <a:latin typeface="Calibri"/>
              </a:rPr>
              <a:t>A secret seed generates a key and a 64-bit signature; training hides the signature in layer conv2.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0952" y="24688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05272" y="269748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36118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260"/>
              </a:spcAft>
            </a:pPr>
            <a:r>
              <a:rPr sz="3219" b="1">
                <a:solidFill>
                  <a:srgbClr val="002060"/>
                </a:solidFill>
                <a:latin typeface="Times New Roman"/>
              </a:rP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420624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0">
                <a:solidFill>
                  <a:srgbClr val="1A1A1A"/>
                </a:solidFill>
                <a:latin typeface="Calibri"/>
              </a:rPr>
              <a:t>Before release, the owner publishes a Poseidon hash of the seed, signed with an Ed25519 key, and gets a registry timestamp.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24688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64624" y="269748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36118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260"/>
              </a:spcAft>
            </a:pPr>
            <a:r>
              <a:rPr sz="3219" b="1">
                <a:solidFill>
                  <a:srgbClr val="002060"/>
                </a:solidFill>
                <a:latin typeface="Times New Roman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420624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0">
                <a:solidFill>
                  <a:srgbClr val="1A1A1A"/>
                </a:solidFill>
                <a:latin typeface="Calibri"/>
              </a:rPr>
              <a:t>For a suspect model, a Circom circuit re-derives the key, reads the 64 bits and enforces at most 8 wrong; SnarkJS outputs a Groth16 proof.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49656" y="246888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523976" y="2697480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23976" y="36118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260"/>
              </a:spcAft>
            </a:pPr>
            <a:r>
              <a:rPr sz="3219" b="1">
                <a:solidFill>
                  <a:srgbClr val="002060"/>
                </a:solidFill>
                <a:latin typeface="Times New Roman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23976" y="4206240"/>
            <a:ext cx="315468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0">
                <a:solidFill>
                  <a:srgbClr val="1A1A1A"/>
                </a:solidFill>
                <a:latin typeface="Calibri"/>
              </a:rPr>
              <a:t>Anyone checks the 879-byte proof in milliseconds, off-chain or on an Ethereum-style chain. 0 bits revealed.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6675120"/>
            <a:ext cx="15499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8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6784848"/>
            <a:ext cx="15087600" cy="1600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90"/>
              </a:spcAft>
            </a:pPr>
            <a:r>
              <a:rPr sz="2529" b="1">
                <a:solidFill>
                  <a:srgbClr val="002060"/>
                </a:solidFill>
                <a:latin typeface="Calibri"/>
              </a:rPr>
              <a:t>The verifier accepts only if all 11 checks pass</a:t>
            </a:r>
          </a:p>
          <a:p>
            <a:pPr algn="l">
              <a:spcAft>
                <a:spcPts val="855"/>
              </a:spcAft>
            </a:pPr>
            <a:r>
              <a:rPr sz="2185" b="0">
                <a:solidFill>
                  <a:srgbClr val="1A1A1A"/>
                </a:solidFill>
                <a:latin typeface="Calibri"/>
              </a:rPr>
              <a:t>owner's signature · trusted registry receipt · registered before the claim · claim matches the registration and the file · owner's key · watermark settings · published commitment · this exact model (w_hash) · this claim (nonce) · Groth16 proof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sp>
        <p:nvSpPr>
          <p:cNvPr id="10" name="Rounded Rectangle 9"/>
          <p:cNvSpPr/>
          <p:nvPr/>
        </p:nvSpPr>
        <p:spPr>
          <a:xfrm>
            <a:off x="1371600" y="256032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80"/>
              </a:spcAft>
            </a:pPr>
            <a:r>
              <a:rPr sz="276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FFFFFF"/>
                </a:solidFill>
                <a:latin typeface="Calibri"/>
              </a:rPr>
              <a:t>React + TypeScript dashboard (frontend/), no internet needed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4608" y="3520440"/>
            <a:ext cx="475488" cy="384048"/>
          </a:xfrm>
          <a:prstGeom prst="right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56032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6974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80"/>
              </a:spcAft>
            </a:pPr>
            <a:r>
              <a:rPr sz="2760" b="1">
                <a:solidFill>
                  <a:srgbClr val="002060"/>
                </a:solidFill>
                <a:latin typeface="Calibri"/>
              </a:rPr>
              <a:t>Demo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9184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Python, 127.0.0.1:8765; JSON API, one job at a time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87968" y="3520440"/>
            <a:ext cx="475488" cy="384048"/>
          </a:xfrm>
          <a:prstGeom prst="right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256032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6974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80"/>
              </a:spcAft>
            </a:pPr>
            <a:r>
              <a:rPr sz="2760" b="1">
                <a:solidFill>
                  <a:srgbClr val="002060"/>
                </a:solidFill>
                <a:latin typeface="Calibri"/>
              </a:rPr>
              <a:t>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9184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Demo scripts + sigil SDK: PyTorch, Ed25519, Poseidon; .pt, .h5, .onnx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2911328" y="3520440"/>
            <a:ext cx="475488" cy="384048"/>
          </a:xfrm>
          <a:prstGeom prst="right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441680" y="256032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24560" y="269748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080"/>
              </a:spcAft>
            </a:pPr>
            <a:r>
              <a:rPr sz="2760" b="1">
                <a:solidFill>
                  <a:srgbClr val="002060"/>
                </a:solidFill>
                <a:latin typeface="Calibri"/>
              </a:rPr>
              <a:t>Zero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0" y="329184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Circom circuit (116,822 constraints), SnarkJS Groth16 prove and verify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903720" y="4983480"/>
            <a:ext cx="384048" cy="457200"/>
          </a:xfrm>
          <a:prstGeom prst="down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94960" y="55321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8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56235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45"/>
              </a:spcAft>
            </a:pPr>
            <a:r>
              <a:rPr sz="2415" b="1">
                <a:solidFill>
                  <a:srgbClr val="002060"/>
                </a:solidFill>
                <a:latin typeface="Calibri"/>
              </a:rPr>
              <a:t>Results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6172200"/>
            <a:ext cx="3108960" cy="13258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765"/>
              </a:spcAft>
            </a:pPr>
            <a:r>
              <a:rPr sz="1954" b="0">
                <a:solidFill>
                  <a:srgbClr val="1A1A1A"/>
                </a:solidFill>
                <a:latin typeface="Calibri"/>
              </a:rPr>
              <a:t>demo/results/*.json and the model checkpoints the pages read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0927080" y="4983480"/>
            <a:ext cx="384048" cy="457200"/>
          </a:xfrm>
          <a:prstGeom prst="down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8320" y="55321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8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56235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45"/>
              </a:spcAft>
            </a:pPr>
            <a:r>
              <a:rPr sz="2415" b="1">
                <a:solidFill>
                  <a:srgbClr val="002060"/>
                </a:solidFill>
                <a:latin typeface="Calibri"/>
              </a:rPr>
              <a:t>Models under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172200"/>
            <a:ext cx="3108960" cy="13258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765"/>
              </a:spcAft>
            </a:pPr>
            <a:r>
              <a:rPr sz="1954" b="0">
                <a:solidFill>
                  <a:srgbClr val="1A1A1A"/>
                </a:solidFill>
                <a:latin typeface="Calibri"/>
              </a:rPr>
              <a:t>the owner's models, stolen copies made live, your own files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4950440" y="4983480"/>
            <a:ext cx="384048" cy="457200"/>
          </a:xfrm>
          <a:prstGeom prst="downArrow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441680" y="55321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8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24560" y="56235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45"/>
              </a:spcAft>
            </a:pPr>
            <a:r>
              <a:rPr sz="2415" b="1">
                <a:solidFill>
                  <a:srgbClr val="002060"/>
                </a:solidFill>
                <a:latin typeface="Calibri"/>
              </a:rPr>
              <a:t>On-chain verifier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0" y="6172200"/>
            <a:ext cx="3108960" cy="13258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765"/>
              </a:spcAft>
            </a:pPr>
            <a:r>
              <a:rPr sz="1954" b="0">
                <a:solidFill>
                  <a:srgbClr val="1A1A1A"/>
                </a:solidFill>
                <a:latin typeface="Calibri"/>
              </a:rPr>
              <a:t>Solidity contract (local Hardhat chain): 243,225 gas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669280"/>
            <a:ext cx="3429000" cy="20116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0">
                <a:solidFill>
                  <a:srgbClr val="4A4A4A"/>
                </a:solidFill>
                <a:latin typeface="Calibri"/>
              </a:rPr>
              <a:t>Everything runs locally: nothing is sent to a cloud service. Replay mode needs only Python.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Dashboard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pic>
        <p:nvPicPr>
          <p:cNvPr id="10" name="Picture 9" descr="over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514600"/>
            <a:ext cx="5074920" cy="3171825"/>
          </a:xfrm>
          <a:prstGeom prst="rect">
            <a:avLst/>
          </a:prstGeom>
          <a:ln w="15875">
            <a:solidFill>
              <a:srgbClr val="B8C4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325880" y="5806440"/>
            <a:ext cx="5074920" cy="13716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90"/>
              </a:spcAft>
            </a:pPr>
            <a:r>
              <a:rPr sz="2529" b="1">
                <a:solidFill>
                  <a:srgbClr val="002060"/>
                </a:solidFill>
                <a:latin typeface="Calibri"/>
              </a:rPr>
              <a:t>Overview</a:t>
            </a:r>
          </a:p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Headline numbers, every model with its test result, audit log</a:t>
            </a:r>
          </a:p>
        </p:txBody>
      </p:sp>
      <p:pic>
        <p:nvPicPr>
          <p:cNvPr id="12" name="Picture 11" descr="verify-model-prove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514600"/>
            <a:ext cx="5074920" cy="3171825"/>
          </a:xfrm>
          <a:prstGeom prst="rect">
            <a:avLst/>
          </a:prstGeom>
          <a:ln w="15875">
            <a:solidFill>
              <a:srgbClr val="B8C4D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583680" y="5806440"/>
            <a:ext cx="5074920" cy="13716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90"/>
              </a:spcAft>
            </a:pPr>
            <a:r>
              <a:rPr sz="2529" b="1">
                <a:solidFill>
                  <a:srgbClr val="002060"/>
                </a:solidFill>
                <a:latin typeface="Calibri"/>
              </a:rPr>
              <a:t>Verify ownership</a:t>
            </a:r>
          </a:p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Pick a model and test it: the verdict and all 11 checks</a:t>
            </a:r>
          </a:p>
        </p:txBody>
      </p:sp>
      <p:pic>
        <p:nvPicPr>
          <p:cNvPr id="14" name="Picture 13" descr="robustness-copi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0" y="2514600"/>
            <a:ext cx="5074920" cy="3171825"/>
          </a:xfrm>
          <a:prstGeom prst="rect">
            <a:avLst/>
          </a:prstGeom>
          <a:ln w="15875">
            <a:solidFill>
              <a:srgbClr val="B8C4D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1841480" y="5806440"/>
            <a:ext cx="5074920" cy="13716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90"/>
              </a:spcAft>
            </a:pPr>
            <a:r>
              <a:rPr sz="2529" b="1">
                <a:solidFill>
                  <a:srgbClr val="002060"/>
                </a:solidFill>
                <a:latin typeface="Calibri"/>
              </a:rPr>
              <a:t>Robustness lab</a:t>
            </a:r>
          </a:p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Attack the owner's model live, then test the stolen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7589520"/>
            <a:ext cx="15636240" cy="7315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0">
                <a:solidFill>
                  <a:srgbClr val="4A4A4A"/>
                </a:solidFill>
                <a:latin typeface="Calibri"/>
              </a:rPr>
              <a:t>Pages start empty and fill in as each demo runs; Clear resets them for the next audience. Every page has a Model under test menu.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Testing Any Model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80" y="2468880"/>
          <a:ext cx="10515600" cy="563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828800"/>
                <a:gridCol w="2057400"/>
                <a:gridCol w="23317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Bits wrong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Owner's model (v2)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98.57%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0 / 64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Proven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Pruned 65%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50.26%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0 / 64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Proven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Pruned 90%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2.01%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1 / 64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Proven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int8 quantised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98.57%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0 / 64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Proven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Fine-tuned 5 epochs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98.80%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0 / 64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Proven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Overwritten by a thief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98.85%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1 / 64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Proven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Channels permuted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98.57%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39 / 64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A31F16"/>
                          </a:solidFill>
                          <a:latin typeface="Calibri"/>
                        </a:rPr>
                        <a:t>Not proven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v1 owner's model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98.66%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31 / 64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A31F16"/>
                          </a:solidFill>
                          <a:latin typeface="Calibri"/>
                        </a:rPr>
                        <a:t>Not proven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Clean model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98.69%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26 / 64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A31F16"/>
                          </a:solidFill>
                          <a:latin typeface="Calibri"/>
                        </a:rPr>
                        <a:t>Not proven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Null models (×4)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≈ 98.8%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28–31 / 64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A31F16"/>
                          </a:solidFill>
                          <a:latin typeface="Calibri"/>
                        </a:rPr>
                        <a:t>Not proven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2161520" y="2468880"/>
            <a:ext cx="4800600" cy="173736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0" y="2578608"/>
            <a:ext cx="44805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45"/>
              </a:spcAft>
            </a:pPr>
            <a:r>
              <a:rPr sz="2415" b="1">
                <a:solidFill>
                  <a:srgbClr val="002060"/>
                </a:solidFill>
                <a:latin typeface="Calibri"/>
              </a:rPr>
              <a:t>Pick any model, press Test</a:t>
            </a:r>
          </a:p>
          <a:p>
            <a:pPr algn="l">
              <a:spcAft>
                <a:spcPts val="765"/>
              </a:spcAft>
            </a:pPr>
            <a:r>
              <a:rPr sz="1954" b="0">
                <a:solidFill>
                  <a:srgbClr val="1A1A1A"/>
                </a:solidFill>
                <a:latin typeface="Calibri"/>
              </a:rPr>
              <a:t>The Model under test menu: the owner's models, six stolen copies made live, never-watermarked models, or your own 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61520" y="4389120"/>
            <a:ext cx="4800600" cy="173736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0" y="4498848"/>
            <a:ext cx="44805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45"/>
              </a:spcAft>
            </a:pPr>
            <a:r>
              <a:rPr sz="2415" b="1">
                <a:solidFill>
                  <a:srgbClr val="002060"/>
                </a:solidFill>
                <a:latin typeface="Calibri"/>
              </a:rPr>
              <a:t>A ruined copy still proves ownership</a:t>
            </a:r>
          </a:p>
          <a:p>
            <a:pPr algn="l">
              <a:spcAft>
                <a:spcPts val="765"/>
              </a:spcAft>
            </a:pPr>
            <a:r>
              <a:rPr sz="1954" b="0">
                <a:solidFill>
                  <a:srgbClr val="1A1A1A"/>
                </a:solidFill>
                <a:latin typeface="Calibri"/>
              </a:rPr>
              <a:t>Pruned 90%: accuracy 2%, yet 63 of 64 bits read correctly and a fresh proof verifies.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61520" y="6309360"/>
            <a:ext cx="4800600" cy="173736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6419088"/>
            <a:ext cx="4480560" cy="15544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945"/>
              </a:spcAft>
            </a:pPr>
            <a:r>
              <a:rPr sz="2415" b="1">
                <a:solidFill>
                  <a:srgbClr val="002060"/>
                </a:solidFill>
                <a:latin typeface="Calibri"/>
              </a:rPr>
              <a:t>The known limit</a:t>
            </a:r>
          </a:p>
          <a:p>
            <a:pPr algn="l">
              <a:spcAft>
                <a:spcPts val="765"/>
              </a:spcAft>
            </a:pPr>
            <a:r>
              <a:rPr sz="1954" b="0">
                <a:solidFill>
                  <a:srgbClr val="1A1A1A"/>
                </a:solidFill>
                <a:latin typeface="Calibri"/>
              </a:rPr>
              <a:t>Permuting channels hides the mark unless the owner realigns the model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sp>
        <p:nvSpPr>
          <p:cNvPr id="10" name="Rounded Rectangle 9"/>
          <p:cNvSpPr/>
          <p:nvPr/>
        </p:nvSpPr>
        <p:spPr>
          <a:xfrm>
            <a:off x="1325880" y="242316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60604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FFFFFF"/>
                </a:solidFill>
                <a:latin typeface="Times New Roman"/>
              </a:rPr>
              <a:t>−0.03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94760"/>
            <a:ext cx="4572000" cy="1051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FFFFFF"/>
                </a:solidFill>
                <a:latin typeface="Calibri"/>
              </a:rPr>
              <a:t>accuracy cost of the watermark (98.69% → 98.66%)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42316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60604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002060"/>
                </a:solidFill>
                <a:latin typeface="Times New Roman"/>
              </a:rPr>
              <a:t>3.73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794760"/>
            <a:ext cx="4572000" cy="1051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to make a Groth16 proof; the proof is 879 bytes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41480" y="242316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15800" y="260604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002060"/>
                </a:solidFill>
                <a:latin typeface="Times New Roman"/>
              </a:rPr>
              <a:t>0 of 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15800" y="3794760"/>
            <a:ext cx="4572000" cy="1051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watermark bits revealed to the verifier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516636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534924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002060"/>
                </a:solidFill>
                <a:latin typeface="Times New Roman"/>
              </a:rPr>
              <a:t>0 / 20,000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6537960"/>
            <a:ext cx="4572000" cy="1051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thief seed-search forgeries accepted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16636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34924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002060"/>
                </a:solidFill>
                <a:latin typeface="Times New Roman"/>
              </a:rPr>
              <a:t>13 /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537960"/>
            <a:ext cx="4572000" cy="1051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removal attacks survived (permutation is the known gap)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41480" y="516636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15800" y="5349240"/>
            <a:ext cx="4572000" cy="11887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2700"/>
              </a:spcAft>
            </a:pPr>
            <a:r>
              <a:rPr sz="6000" b="1">
                <a:solidFill>
                  <a:srgbClr val="002060"/>
                </a:solidFill>
                <a:latin typeface="Times New Roman"/>
              </a:rPr>
              <a:t>4 /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15800" y="6537960"/>
            <a:ext cx="4572000" cy="1051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10"/>
              </a:spcAft>
            </a:pPr>
            <a:r>
              <a:rPr sz="2070" b="0">
                <a:solidFill>
                  <a:srgbClr val="1A1A1A"/>
                </a:solidFill>
                <a:latin typeface="Calibri"/>
              </a:rPr>
              <a:t>misuse attempts rejected: replay, wrong model, tampered proof, untrusted 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7863840"/>
            <a:ext cx="1563624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765"/>
              </a:spcAft>
            </a:pPr>
            <a:r>
              <a:rPr sz="1954" b="0">
                <a:solidFill>
                  <a:srgbClr val="4A4A4A"/>
                </a:solidFill>
                <a:latin typeface="Calibri"/>
              </a:rPr>
              <a:t>Also: verified on a local Ethereum chain (243,225 gas) · 116,822-constraint circuit · 108 server and 151 SDK automated tests 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Timeline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688908"/>
            <a:ext cx="15590520" cy="526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6"/>
              </a:lnSpc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[ Week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</a:t>
            </a:r>
          </a:p>
          <a:p>
            <a:pPr marL="760095" lvl="1" indent="-380048" algn="l">
              <a:lnSpc>
                <a:spcPts val="516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1–2 Problem definition + literature </a:t>
            </a:r>
          </a:p>
          <a:p>
            <a:pPr marL="760095" lvl="1" indent="-380048" algn="l">
              <a:lnSpc>
                <a:spcPts val="516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3–4 System design &amp; tool finalization </a:t>
            </a:r>
          </a:p>
          <a:p>
            <a:pPr marL="760095" lvl="1" indent="-380048" algn="l">
              <a:lnSpc>
                <a:spcPts val="516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5–7 Data acquisition</a:t>
            </a:r>
          </a:p>
          <a:p>
            <a:pPr marL="760095" lvl="1" indent="-380048" algn="l">
              <a:lnSpc>
                <a:spcPts val="516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8–9 Blockchain/Frontend &amp; Backend integration</a:t>
            </a:r>
          </a:p>
          <a:p>
            <a:pPr marL="760095" lvl="1" indent="-380048" algn="l">
              <a:lnSpc>
                <a:spcPts val="516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10–11 Testing + bug fixing </a:t>
            </a:r>
          </a:p>
          <a:p>
            <a:pPr marL="760095" lvl="1" indent="-380048" algn="l">
              <a:lnSpc>
                <a:spcPts val="516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 Report preparation &amp; review ]</a:t>
            </a:r>
          </a:p>
          <a:p>
            <a:pPr marL="760095" lvl="1" indent="-380048" algn="l">
              <a:lnSpc>
                <a:spcPts val="5166"/>
              </a:lnSpc>
            </a:pPr>
            <a:endParaRPr lang="en-US" sz="4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149323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Expected Outcomes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1966217"/>
            <a:ext cx="15590520" cy="649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secure AI model watermarking system for ownership protection.</a:t>
            </a:r>
          </a:p>
          <a:p>
            <a:pPr marL="760095" lvl="1" indent="-380048" algn="l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Reliable watermark detection and verification using cryptographic techniques.</a:t>
            </a:r>
          </a:p>
          <a:p>
            <a:pPr marL="760095" lvl="1" indent="-380048" algn="l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Privacy-preserving ownership authentication through Zero-Knowledge Proof (ZKP).</a:t>
            </a:r>
          </a:p>
          <a:p>
            <a:pPr marL="760095" lvl="1" indent="-380048" algn="l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Robust watermark resistance against fine-tuning, pruning, quantization, compression, and model extraction attacks.</a:t>
            </a:r>
          </a:p>
          <a:p>
            <a:pPr marL="760095" lvl="1" indent="-380048" algn="l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framework-agnostic SDK/API for watermark embedding, detection, and verification.</a:t>
            </a:r>
          </a:p>
          <a:p>
            <a:pPr marL="760095" lvl="1" indent="-380048" algn="l">
              <a:lnSpc>
                <a:spcPts val="462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web-based dashboard for AI model management, verification, and compliance reporting.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Expected vs Achieved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80" y="2377440"/>
          <a:ext cx="15590520" cy="563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103120"/>
                <a:gridCol w="781812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Expected outcome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109728" marR="109728" anchor="ctr">
                    <a:solidFill>
                      <a:srgbClr val="002060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Framework-agnostic Python SDK/API (.pt, .h5, .onnx)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sigil SDK and command line; safe loaders for all three formats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Privacy-preserving ZKP verification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Circom + Groth16: 0 of 64 bits revealed; verified off-chain and on-chain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Interactive web dashboard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Overview, Embed, Verify, Robustness, research demos A–F, testing any model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Robust to fine-tuning, pruning, quantization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1E6B2E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13 of 14 attacks survived; attacked copies still prove ownership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Resistance to model extraction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9A5B00"/>
                          </a:solidFill>
                          <a:latin typeface="Calibri"/>
                        </a:rPr>
                        <a:t>Sem 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Not covered by a white-box mark; a trigger-set mark is planned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FastAPI + PostgreSQL backend for tracking and audit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1">
                          <a:solidFill>
                            <a:srgbClr val="9A5B00"/>
                          </a:solidFill>
                          <a:latin typeface="Calibri"/>
                        </a:rPr>
                        <a:t>Sem 8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80" b="0">
                          <a:solidFill>
                            <a:srgbClr val="1A1A1A"/>
                          </a:solidFill>
                          <a:latin typeface="Calibri"/>
                        </a:rPr>
                        <a:t>Today: a local server with JSON results and an audit log</a:t>
                      </a:r>
                    </a:p>
                  </a:txBody>
                  <a:tcPr marL="109728" marR="109728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Limitations &amp; Next Steps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sp>
        <p:nvSpPr>
          <p:cNvPr id="10" name="Rounded Rectangle 9"/>
          <p:cNvSpPr/>
          <p:nvPr/>
        </p:nvSpPr>
        <p:spPr>
          <a:xfrm>
            <a:off x="1325880" y="2423160"/>
            <a:ext cx="7635240" cy="598932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606040"/>
            <a:ext cx="7132320" cy="5669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170"/>
              </a:spcAft>
            </a:pPr>
            <a:r>
              <a:rPr sz="2990" b="1">
                <a:solidFill>
                  <a:srgbClr val="002060"/>
                </a:solidFill>
                <a:latin typeface="Times New Roman"/>
              </a:rPr>
              <a:t>Honest limits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White-box only: the verifier needs the suspect model's weights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Permuting channels hides the mark unless the owner realigns first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64 bits is a demo size: a forger needs about 4 billion tries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The 8-of-64 threshold is indicative, not a calibrated false-positive rate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Trusted setup: a single phase-2 contributor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23160"/>
            <a:ext cx="7635240" cy="5989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8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606040"/>
            <a:ext cx="7132320" cy="5669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170"/>
              </a:spcAft>
            </a:pPr>
            <a:r>
              <a:rPr sz="2990" b="1">
                <a:solidFill>
                  <a:srgbClr val="002060"/>
                </a:solidFill>
                <a:latin typeface="Times New Roman"/>
              </a:rPr>
              <a:t>Next steps (Semester 8)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FastAPI + PostgreSQL backend: watermark tracking and verification history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A trigger-set (black-box) mark against model extraction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256-bit signatures: forging would take about 10³⁶ tries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Automatic channel realignment before proving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Larger models and a multi-party trusted setup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Deployment &amp; Deliverables</a:t>
              </a:r>
            </a:p>
          </p:txBody>
        </p:sp>
      </p:grp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  <p:sp>
        <p:nvSpPr>
          <p:cNvPr id="10" name="Oval 9"/>
          <p:cNvSpPr/>
          <p:nvPr/>
        </p:nvSpPr>
        <p:spPr>
          <a:xfrm>
            <a:off x="1371600" y="2514600"/>
            <a:ext cx="731520" cy="7315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96312"/>
            <a:ext cx="6949440" cy="10972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Aft>
                <a:spcPts val="900"/>
              </a:spcAft>
            </a:pPr>
            <a:r>
              <a:rPr sz="2300" b="0">
                <a:solidFill>
                  <a:srgbClr val="1A1A1A"/>
                </a:solidFill>
                <a:latin typeface="Calibri"/>
              </a:rPr>
              <a:t>Unzip owasp-wm-demo.zip (about 208 MB: code, models, results, proving keys)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721608"/>
            <a:ext cx="731520" cy="7315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703320"/>
            <a:ext cx="6949440" cy="10972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Aft>
                <a:spcPts val="900"/>
              </a:spcAft>
            </a:pPr>
            <a:r>
              <a:rPr sz="2300" b="0">
                <a:solidFill>
                  <a:srgbClr val="1A1A1A"/>
                </a:solidFill>
                <a:latin typeface="Calibri"/>
              </a:rPr>
              <a:t>Run .\setup.ps1 --demo: installs everything in 5–15 minutes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928616"/>
            <a:ext cx="731520" cy="7315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910328"/>
            <a:ext cx="6949440" cy="10972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Aft>
                <a:spcPts val="900"/>
              </a:spcAft>
            </a:pPr>
            <a:r>
              <a:rPr sz="2300" b="0">
                <a:solidFill>
                  <a:srgbClr val="1A1A1A"/>
                </a:solidFill>
                <a:latin typeface="Calibri"/>
              </a:rPr>
              <a:t>Run scripts\verify_deploy.py: must print ALL CHECKS PASSED (it makes a real proof)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6135624"/>
            <a:ext cx="731520" cy="7315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6117336"/>
            <a:ext cx="6949440" cy="109728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Aft>
                <a:spcPts val="900"/>
              </a:spcAft>
            </a:pPr>
            <a:r>
              <a:rPr sz="2300" b="0">
                <a:solidFill>
                  <a:srgbClr val="1A1A1A"/>
                </a:solidFill>
                <a:latin typeface="Calibri"/>
              </a:rPr>
              <a:t>Double-click Start-Demo-UI.cmd and open http://127.0.0.1:8765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7452360"/>
            <a:ext cx="7955279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855"/>
              </a:spcAft>
            </a:pPr>
            <a:r>
              <a:rPr sz="2185" b="1">
                <a:solidFill>
                  <a:srgbClr val="002060"/>
                </a:solidFill>
                <a:latin typeface="Calibri"/>
              </a:rPr>
              <a:t>Replay mode needs only Python: Start-Demo-UI-Simulate.cmd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2423160"/>
            <a:ext cx="6995160" cy="5989320"/>
          </a:xfrm>
          <a:prstGeom prst="roundRect">
            <a:avLst>
              <a:gd name="adj" fmla="val 6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2606040"/>
            <a:ext cx="6492240" cy="5669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Aft>
                <a:spcPts val="1170"/>
              </a:spcAft>
            </a:pPr>
            <a:r>
              <a:rPr sz="2990" b="1">
                <a:solidFill>
                  <a:srgbClr val="002060"/>
                </a:solidFill>
                <a:latin typeface="Times New Roman"/>
              </a:rPr>
              <a:t>Deliverables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Working demo app, Python SDK and Circom circuit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Sigil-User-Guide.pdf: 40-page illustrated guide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DEPLOY.md: step-by-step runbook an AI agent can follow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DEMO.md: presentation runbook</a:t>
            </a:r>
          </a:p>
          <a:p>
            <a:pPr algn="l" marL="365760" indent="-365760">
              <a:spcAft>
                <a:spcPts val="900"/>
              </a:spcAft>
              <a:buFont typeface="Arial"/>
              <a:buChar char="•"/>
            </a:pPr>
            <a:r>
              <a:rPr sz="2300" b="0">
                <a:solidFill>
                  <a:srgbClr val="1A1A1A"/>
                </a:solidFill>
                <a:latin typeface="Calibri"/>
              </a:rPr>
              <a:t>108 server and 151 SDK automated tests passing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660333"/>
            <a:ext cx="15590520" cy="504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8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Y. Uchida, Y. Nagai, S. Sakazawa, and S. Satoh, “Embedding Watermarks into Deep Neural Networks,” Proceedings of the ACM International Conference on Multimedia Retrieval (ICMR), pp. 269–277, 2017.</a:t>
            </a:r>
          </a:p>
          <a:p>
            <a:pPr algn="l">
              <a:lnSpc>
                <a:spcPts val="4998"/>
              </a:lnSpc>
            </a:pPr>
            <a:endParaRPr lang="en-US" sz="4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98"/>
              </a:lnSpc>
            </a:pPr>
            <a:r>
              <a:rPr lang="en-US" sz="4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X. Zhang, H. Wu, and X. Zhang, “Protecting Intellectual Property of Deep Neural Networks with Watermarking: A Survey,” IEEE Access, vol. 9, pp. 118862–118882, 2021.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 (continued)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377440"/>
            <a:ext cx="15590520" cy="612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8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Groth, “On the Size of Pairing-Based Non-interactive Arguments,” Advances in Cryptology – EUROCRYPT 2016, LNCS 9666, pp. 305–326, 2016.</a:t>
            </a:r>
          </a:p>
          <a:p>
            <a:pPr algn="l">
              <a:lnSpc>
                <a:spcPts val="4998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N. Lukas, E. Jiang, X. Li, and F. Kerschbaum, “SoK: How Robust is Image Classification Deep Neural Network Watermarking?,” IEEE Symposium on Security and Privacy (S&amp;P), pp. 787–804, 2022.</a:t>
            </a:r>
          </a:p>
          <a:p>
            <a:pPr algn="l">
              <a:lnSpc>
                <a:spcPts val="4998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L. Grassi, D. Khovratovich, C. Rechberger, A. Roy, and M. Schofnegger, “Poseidon: A New Hash Function for Zero-Knowledge Proof Systems,” USENIX Security Symposium, 2021.</a:t>
            </a:r>
          </a:p>
          <a:p>
            <a:pPr algn="l">
              <a:lnSpc>
                <a:spcPts val="4998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N. Sheybani, Z. Ghodsi, R. Kapila, and F. Koushanfar, “ZKROWNN: Zero Knowledge Right of Ownership for Neural Networks,” ACM/IEEE Design Automation Conference (DAC), 2023.</a:t>
            </a:r>
          </a:p>
          <a:p>
            <a:pPr algn="l">
              <a:lnSpc>
                <a:spcPts val="4998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iden3, “Circom 2 and SnarkJS documentation,” https://docs.circom.io.</a:t>
            </a:r>
          </a:p>
        </p:txBody>
      </p:sp>
      <p:sp>
        <p:nvSpPr>
          <p:cNvPr id="6" name="AutoShape 6"/>
          <p:cNvSpPr/>
          <p:nvPr/>
        </p:nvSpPr>
        <p:spPr>
          <a:xfrm rot="6540">
            <a:off x="-36690" y="8753475"/>
            <a:ext cx="18354446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626234" y="9264110"/>
            <a:ext cx="11976868" cy="42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i="1">
                <a:solidFill>
                  <a:srgbClr val="00206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Department of Computer Science &amp; Engineering (IoTCSBCT), MHSSCE, Mumbai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84897" y="8859650"/>
            <a:ext cx="1516942" cy="1227811"/>
            <a:chOff x="0" y="0"/>
            <a:chExt cx="2022589" cy="1637081"/>
          </a:xfrm>
        </p:grpSpPr>
        <p:sp>
          <p:nvSpPr>
            <p:cNvPr id="9" name="Freeform 9" descr="EOTY(Engineer Of The Year) – MHSSCOE ACM CHAPTER"/>
            <p:cNvSpPr/>
            <p:nvPr/>
          </p:nvSpPr>
          <p:spPr>
            <a:xfrm>
              <a:off x="0" y="0"/>
              <a:ext cx="2022602" cy="1637030"/>
            </a:xfrm>
            <a:custGeom>
              <a:avLst/>
              <a:gdLst/>
              <a:ahLst/>
              <a:cxnLst/>
              <a:rect l="l" t="t" r="r" b="b"/>
              <a:pathLst>
                <a:path w="2022602" h="1637030">
                  <a:moveTo>
                    <a:pt x="0" y="0"/>
                  </a:moveTo>
                  <a:lnTo>
                    <a:pt x="2022602" y="0"/>
                  </a:lnTo>
                  <a:lnTo>
                    <a:pt x="2022602" y="1637030"/>
                  </a:lnTo>
                  <a:lnTo>
                    <a:pt x="0" y="1637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3003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3753088"/>
            <a:ext cx="15773400" cy="1988344"/>
            <a:chOff x="0" y="0"/>
            <a:chExt cx="21031200" cy="2651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31200" cy="268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8100" b="1">
                  <a:solidFill>
                    <a:srgbClr val="07376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742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Times New Roman Italics</vt:lpstr>
      <vt:lpstr>Calibri (MS)</vt:lpstr>
      <vt:lpstr>Calibri (MS) Bold</vt:lpstr>
      <vt:lpstr>Times New Roman Bold Italics</vt:lpstr>
      <vt:lpstr>Times New Roman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OWASP AI Model Watermarking.pptx</dc:title>
  <cp:lastModifiedBy>Arfat Shaikh</cp:lastModifiedBy>
  <cp:revision>2</cp:revision>
  <dcterms:created xsi:type="dcterms:W3CDTF">2006-08-16T00:00:00Z</dcterms:created>
  <dcterms:modified xsi:type="dcterms:W3CDTF">2026-08-07T07:35:07Z</dcterms:modified>
  <dc:identifier>DAHRgsTid00</dc:identifier>
</cp:coreProperties>
</file>