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0" r:id="rId6"/>
    <p:sldId id="268" r:id="rId7"/>
    <p:sldId id="262" r:id="rId8"/>
    <p:sldId id="263" r:id="rId9"/>
    <p:sldId id="269" r:id="rId24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Calibri (MS)" panose="020B0604020202020204" charset="0"/>
      <p:regular r:id="rId14"/>
    </p:embeddedFont>
    <p:embeddedFont>
      <p:font typeface="Calibri (MS) Bold" panose="020B0604020202020204" charset="0"/>
      <p:regular r:id="rId15"/>
    </p:embeddedFont>
    <p:embeddedFont>
      <p:font typeface="Times New Roman Bold" panose="02020803070505020304" pitchFamily="18" charset="0"/>
      <p:regular r:id="rId16"/>
      <p:bold r:id="rId17"/>
    </p:embeddedFont>
    <p:embeddedFont>
      <p:font typeface="Times New Roman Bold Italics" panose="020B0604020202020204" charset="0"/>
      <p:regular r:id="rId18"/>
    </p:embeddedFont>
    <p:embeddedFont>
      <p:font typeface="Times New Roman Italics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679145" y="2748410"/>
            <a:ext cx="10724436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80"/>
              </a:lnSpc>
            </a:pPr>
            <a:r>
              <a:rPr lang="en-US" sz="5400" b="1">
                <a:solidFill>
                  <a:srgbClr val="073763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“OWASP AI Model Watermarking”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508962" y="4663769"/>
            <a:ext cx="11062202" cy="39840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56"/>
              </a:lnSpc>
            </a:pPr>
            <a:r>
              <a:rPr lang="en-US" sz="2100" i="1" dirty="0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Presented by</a:t>
            </a:r>
          </a:p>
          <a:p>
            <a:pPr algn="ctr">
              <a:lnSpc>
                <a:spcPts val="3264"/>
              </a:lnSpc>
            </a:pPr>
            <a:r>
              <a:rPr lang="en-US" sz="24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Shaikh Arfat Zakir [231846]</a:t>
            </a:r>
          </a:p>
          <a:p>
            <a:pPr algn="ctr">
              <a:lnSpc>
                <a:spcPts val="3264"/>
              </a:lnSpc>
            </a:pPr>
            <a:r>
              <a:rPr lang="en-US" sz="24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Daire Sami Navid [231813]</a:t>
            </a:r>
          </a:p>
          <a:p>
            <a:pPr algn="ctr">
              <a:lnSpc>
                <a:spcPts val="3264"/>
              </a:lnSpc>
            </a:pPr>
            <a:r>
              <a:rPr lang="en-US" sz="24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Ansari Mohamed Abdullah [231803]</a:t>
            </a:r>
          </a:p>
          <a:p>
            <a:pPr algn="ctr">
              <a:lnSpc>
                <a:spcPts val="3264"/>
              </a:lnSpc>
            </a:pPr>
            <a:r>
              <a:rPr lang="en-US" sz="24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Yash Bandiwadekar [231810]</a:t>
            </a:r>
          </a:p>
          <a:p>
            <a:pPr algn="ctr">
              <a:lnSpc>
                <a:spcPts val="3264"/>
              </a:lnSpc>
            </a:pPr>
            <a:endParaRPr lang="en-US" sz="2400" b="1" dirty="0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2856"/>
              </a:lnSpc>
            </a:pPr>
            <a:r>
              <a:rPr lang="en-US" sz="2100" i="1" dirty="0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Under the guidance of </a:t>
            </a:r>
          </a:p>
          <a:p>
            <a:pPr algn="ctr">
              <a:lnSpc>
                <a:spcPts val="2856"/>
              </a:lnSpc>
            </a:pPr>
            <a:r>
              <a:rPr lang="en-US" sz="21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Dr. Shafi Pathan</a:t>
            </a:r>
          </a:p>
          <a:p>
            <a:pPr algn="ctr">
              <a:lnSpc>
                <a:spcPts val="2856"/>
              </a:lnSpc>
            </a:pPr>
            <a:r>
              <a:rPr lang="en-US" sz="21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(Principal)</a:t>
            </a:r>
          </a:p>
          <a:p>
            <a:pPr algn="ctr">
              <a:lnSpc>
                <a:spcPts val="3264"/>
              </a:lnSpc>
            </a:pPr>
            <a:endParaRPr lang="en-US" sz="21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592824" y="1046674"/>
            <a:ext cx="4894478" cy="1968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Presentation</a:t>
            </a:r>
          </a:p>
          <a:p>
            <a:pPr algn="ctr">
              <a:lnSpc>
                <a:spcPts val="3240"/>
              </a:lnSpc>
            </a:pPr>
            <a:r>
              <a:rPr lang="en-US" sz="2700" i="1">
                <a:solidFill>
                  <a:srgbClr val="000000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on</a:t>
            </a:r>
          </a:p>
        </p:txBody>
      </p:sp>
      <p:sp>
        <p:nvSpPr>
          <p:cNvPr id="5" name="AutoShape 5"/>
          <p:cNvSpPr/>
          <p:nvPr/>
        </p:nvSpPr>
        <p:spPr>
          <a:xfrm rot="6540">
            <a:off x="-36690" y="8753475"/>
            <a:ext cx="18354446" cy="0"/>
          </a:xfrm>
          <a:prstGeom prst="line">
            <a:avLst/>
          </a:prstGeom>
          <a:ln w="1905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3626234" y="9264110"/>
            <a:ext cx="11976868" cy="422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 i="1">
                <a:solidFill>
                  <a:srgbClr val="00000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Department of Computer Science &amp; Engineering (IoTCSBCT), MHSSCE, Mumbai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684897" y="8859650"/>
            <a:ext cx="1516942" cy="1227811"/>
            <a:chOff x="0" y="0"/>
            <a:chExt cx="2022589" cy="1637081"/>
          </a:xfrm>
        </p:grpSpPr>
        <p:sp>
          <p:nvSpPr>
            <p:cNvPr id="8" name="Freeform 8" descr="EOTY(Engineer Of The Year) – MHSSCOE ACM CHAPTER"/>
            <p:cNvSpPr/>
            <p:nvPr/>
          </p:nvSpPr>
          <p:spPr>
            <a:xfrm>
              <a:off x="0" y="0"/>
              <a:ext cx="2022602" cy="1637030"/>
            </a:xfrm>
            <a:custGeom>
              <a:avLst/>
              <a:gdLst/>
              <a:ahLst/>
              <a:cxnLst/>
              <a:rect l="l" t="t" r="r" b="b"/>
              <a:pathLst>
                <a:path w="2022602" h="1637030">
                  <a:moveTo>
                    <a:pt x="0" y="0"/>
                  </a:moveTo>
                  <a:lnTo>
                    <a:pt x="2022602" y="0"/>
                  </a:lnTo>
                  <a:lnTo>
                    <a:pt x="2022602" y="1637030"/>
                  </a:lnTo>
                  <a:lnTo>
                    <a:pt x="0" y="1637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2300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7300" y="548640"/>
            <a:ext cx="15773400" cy="1988344"/>
            <a:chOff x="0" y="0"/>
            <a:chExt cx="21031200" cy="26511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2651126"/>
            </a:xfrm>
            <a:custGeom>
              <a:avLst/>
              <a:gdLst/>
              <a:ahLst/>
              <a:cxnLst/>
              <a:rect l="l" t="t" r="r" b="b"/>
              <a:pathLst>
                <a:path w="21031200" h="2651126">
                  <a:moveTo>
                    <a:pt x="0" y="0"/>
                  </a:moveTo>
                  <a:lnTo>
                    <a:pt x="21031200" y="0"/>
                  </a:lnTo>
                  <a:lnTo>
                    <a:pt x="21031200" y="2651126"/>
                  </a:lnTo>
                  <a:lnTo>
                    <a:pt x="0" y="26511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4573" b="-10457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8100"/>
              <a:ext cx="21031200" cy="2613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128"/>
                </a:lnSpc>
              </a:pPr>
              <a:r>
                <a:rPr lang="en-US" sz="6600" b="1">
                  <a:solidFill>
                    <a:srgbClr val="00206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Outline</a:t>
              </a:r>
            </a:p>
          </p:txBody>
        </p:sp>
      </p:grpSp>
      <p:sp>
        <p:nvSpPr>
          <p:cNvPr id="6" name="AutoShape 6"/>
          <p:cNvSpPr/>
          <p:nvPr/>
        </p:nvSpPr>
        <p:spPr>
          <a:xfrm rot="6540">
            <a:off x="-36690" y="8753475"/>
            <a:ext cx="18354446" cy="0"/>
          </a:xfrm>
          <a:prstGeom prst="line">
            <a:avLst/>
          </a:prstGeom>
          <a:ln w="19050" cap="rnd">
            <a:solidFill>
              <a:srgbClr val="00206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3626234" y="9264110"/>
            <a:ext cx="11976868" cy="422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 i="1">
                <a:solidFill>
                  <a:srgbClr val="00206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Department of Computer Science &amp; Engineering (IoTCSBCT), MHSSCE, Mumbai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684897" y="8859650"/>
            <a:ext cx="1516942" cy="1227811"/>
            <a:chOff x="0" y="0"/>
            <a:chExt cx="2022589" cy="1637081"/>
          </a:xfrm>
        </p:grpSpPr>
        <p:sp>
          <p:nvSpPr>
            <p:cNvPr id="9" name="Freeform 9" descr="EOTY(Engineer Of The Year) – MHSSCOE ACM CHAPTER"/>
            <p:cNvSpPr/>
            <p:nvPr/>
          </p:nvSpPr>
          <p:spPr>
            <a:xfrm>
              <a:off x="0" y="0"/>
              <a:ext cx="2022602" cy="1637030"/>
            </a:xfrm>
            <a:custGeom>
              <a:avLst/>
              <a:gdLst/>
              <a:ahLst/>
              <a:cxnLst/>
              <a:rect l="l" t="t" r="r" b="b"/>
              <a:pathLst>
                <a:path w="2022602" h="1637030">
                  <a:moveTo>
                    <a:pt x="0" y="0"/>
                  </a:moveTo>
                  <a:lnTo>
                    <a:pt x="2022602" y="0"/>
                  </a:lnTo>
                  <a:lnTo>
                    <a:pt x="2022602" y="1637030"/>
                  </a:lnTo>
                  <a:lnTo>
                    <a:pt x="0" y="1637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300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Outline 1"/>
          <p:cNvSpPr txBox="1"/>
          <p:nvPr/>
        </p:nvSpPr>
        <p:spPr>
          <a:xfrm>
            <a:off x="1463040" y="2514600"/>
            <a:ext cx="7498079" cy="566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84048" indent="-384048">
              <a:spcAft>
                <a:spcPts val="1400"/>
              </a:spcAft>
              <a:buFont typeface="Arial"/>
              <a:buChar char="•"/>
            </a:pPr>
            <a:r>
              <a:rPr sz="3800" b="0" i="0">
                <a:solidFill>
                  <a:srgbClr val="000000"/>
                </a:solidFill>
                <a:latin typeface="Times New Roman"/>
              </a:rPr>
              <a:t>Team Responsibilities</a:t>
            </a:r>
          </a:p>
          <a:p>
            <a:pPr algn="l" marL="384048" indent="-384048">
              <a:spcAft>
                <a:spcPts val="1400"/>
              </a:spcAft>
              <a:buFont typeface="Arial"/>
              <a:buChar char="•"/>
            </a:pPr>
            <a:r>
              <a:rPr sz="3800" b="0" i="0">
                <a:solidFill>
                  <a:srgbClr val="000000"/>
                </a:solidFill>
                <a:latin typeface="Times New Roman"/>
              </a:rPr>
              <a:t>Problem Statement and Objectives</a:t>
            </a:r>
          </a:p>
          <a:p>
            <a:pPr algn="l" marL="384048" indent="-384048">
              <a:spcAft>
                <a:spcPts val="1400"/>
              </a:spcAft>
              <a:buFont typeface="Arial"/>
              <a:buChar char="•"/>
            </a:pPr>
            <a:r>
              <a:rPr sz="3800" b="0" i="0">
                <a:solidFill>
                  <a:srgbClr val="000000"/>
                </a:solidFill>
                <a:latin typeface="Times New Roman"/>
              </a:rPr>
              <a:t>Literature Review</a:t>
            </a:r>
          </a:p>
          <a:p>
            <a:pPr algn="l" marL="384048" indent="-384048">
              <a:spcAft>
                <a:spcPts val="1400"/>
              </a:spcAft>
              <a:buFont typeface="Arial"/>
              <a:buChar char="•"/>
            </a:pPr>
            <a:r>
              <a:rPr sz="3800" b="0" i="0">
                <a:solidFill>
                  <a:srgbClr val="000000"/>
                </a:solidFill>
                <a:latin typeface="Times New Roman"/>
              </a:rPr>
              <a:t>Proposed Framework</a:t>
            </a:r>
          </a:p>
          <a:p>
            <a:pPr algn="l" marL="384048" indent="-384048">
              <a:spcAft>
                <a:spcPts val="1400"/>
              </a:spcAft>
              <a:buFont typeface="Arial"/>
              <a:buChar char="•"/>
            </a:pPr>
            <a:r>
              <a:rPr sz="3800" b="0" i="0">
                <a:solidFill>
                  <a:srgbClr val="000000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11" name="Outline 2"/>
          <p:cNvSpPr txBox="1"/>
          <p:nvPr/>
        </p:nvSpPr>
        <p:spPr>
          <a:xfrm>
            <a:off x="9326880" y="2514600"/>
            <a:ext cx="7498079" cy="566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84048" indent="-384048">
              <a:spcAft>
                <a:spcPts val="1400"/>
              </a:spcAft>
              <a:buFont typeface="Arial"/>
              <a:buChar char="•"/>
            </a:pPr>
            <a:r>
              <a:rPr sz="3800" b="0" i="0">
                <a:solidFill>
                  <a:srgbClr val="000000"/>
                </a:solidFill>
                <a:latin typeface="Times New Roman"/>
              </a:rPr>
              <a:t>Results</a:t>
            </a:r>
          </a:p>
          <a:p>
            <a:pPr algn="l" marL="384048" indent="-384048">
              <a:spcAft>
                <a:spcPts val="1400"/>
              </a:spcAft>
              <a:buFont typeface="Arial"/>
              <a:buChar char="•"/>
            </a:pPr>
            <a:r>
              <a:rPr sz="3800" b="0" i="0">
                <a:solidFill>
                  <a:srgbClr val="000000"/>
                </a:solidFill>
                <a:latin typeface="Times New Roman"/>
              </a:rPr>
              <a:t>Project Timeline and Progress</a:t>
            </a:r>
          </a:p>
          <a:p>
            <a:pPr algn="l" marL="384048" indent="-384048">
              <a:spcAft>
                <a:spcPts val="1400"/>
              </a:spcAft>
              <a:buFont typeface="Arial"/>
              <a:buChar char="•"/>
            </a:pPr>
            <a:r>
              <a:rPr sz="3800" b="0" i="0">
                <a:solidFill>
                  <a:srgbClr val="000000"/>
                </a:solidFill>
                <a:latin typeface="Times New Roman"/>
              </a:rPr>
              <a:t>Outcomes and Future Work</a:t>
            </a:r>
          </a:p>
          <a:p>
            <a:pPr algn="l" marL="384048" indent="-384048">
              <a:spcAft>
                <a:spcPts val="1400"/>
              </a:spcAft>
              <a:buFont typeface="Arial"/>
              <a:buChar char="•"/>
            </a:pPr>
            <a:r>
              <a:rPr sz="3800" b="0" i="0">
                <a:solidFill>
                  <a:srgbClr val="000000"/>
                </a:solidFill>
                <a:latin typeface="Times New Roman"/>
              </a:rP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7300" y="548640"/>
            <a:ext cx="15773400" cy="1988344"/>
            <a:chOff x="0" y="0"/>
            <a:chExt cx="21031200" cy="26511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2651126"/>
            </a:xfrm>
            <a:custGeom>
              <a:avLst/>
              <a:gdLst/>
              <a:ahLst/>
              <a:cxnLst/>
              <a:rect l="l" t="t" r="r" b="b"/>
              <a:pathLst>
                <a:path w="21031200" h="2651126">
                  <a:moveTo>
                    <a:pt x="0" y="0"/>
                  </a:moveTo>
                  <a:lnTo>
                    <a:pt x="21031200" y="0"/>
                  </a:lnTo>
                  <a:lnTo>
                    <a:pt x="21031200" y="2651126"/>
                  </a:lnTo>
                  <a:lnTo>
                    <a:pt x="0" y="26511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4573" b="-10457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8100"/>
              <a:ext cx="21031200" cy="2613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128"/>
                </a:lnSpc>
              </a:pPr>
              <a:r>
                <a:rPr lang="en-US" sz="6600" b="1">
                  <a:solidFill>
                    <a:srgbClr val="00206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Team Responsibilities</a:t>
              </a:r>
              <a:r>
                <a:rPr lang="en-US" sz="6600">
                  <a:solidFill>
                    <a:srgbClr val="073763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 </a:t>
              </a:r>
            </a:p>
          </p:txBody>
        </p:sp>
      </p:grpSp>
      <p:sp>
        <p:nvSpPr>
          <p:cNvPr id="6" name="AutoShape 6"/>
          <p:cNvSpPr/>
          <p:nvPr/>
        </p:nvSpPr>
        <p:spPr>
          <a:xfrm rot="6540">
            <a:off x="-36690" y="8753475"/>
            <a:ext cx="18354446" cy="0"/>
          </a:xfrm>
          <a:prstGeom prst="line">
            <a:avLst/>
          </a:prstGeom>
          <a:ln w="19050" cap="rnd">
            <a:solidFill>
              <a:srgbClr val="00206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3626234" y="9264110"/>
            <a:ext cx="11976868" cy="422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 i="1">
                <a:solidFill>
                  <a:srgbClr val="00206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Department of Computer Science &amp; Engineering (IoTCSBCT), MHSSCE, Mumbai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684897" y="8859650"/>
            <a:ext cx="1516942" cy="1227811"/>
            <a:chOff x="0" y="0"/>
            <a:chExt cx="2022589" cy="1637081"/>
          </a:xfrm>
        </p:grpSpPr>
        <p:sp>
          <p:nvSpPr>
            <p:cNvPr id="9" name="Freeform 9" descr="EOTY(Engineer Of The Year) – MHSSCOE ACM CHAPTER"/>
            <p:cNvSpPr/>
            <p:nvPr/>
          </p:nvSpPr>
          <p:spPr>
            <a:xfrm>
              <a:off x="0" y="0"/>
              <a:ext cx="2022602" cy="1637030"/>
            </a:xfrm>
            <a:custGeom>
              <a:avLst/>
              <a:gdLst/>
              <a:ahLst/>
              <a:cxnLst/>
              <a:rect l="l" t="t" r="r" b="b"/>
              <a:pathLst>
                <a:path w="2022602" h="1637030">
                  <a:moveTo>
                    <a:pt x="0" y="0"/>
                  </a:moveTo>
                  <a:lnTo>
                    <a:pt x="2022602" y="0"/>
                  </a:lnTo>
                  <a:lnTo>
                    <a:pt x="2022602" y="1637030"/>
                  </a:lnTo>
                  <a:lnTo>
                    <a:pt x="0" y="1637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300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am"/>
          <p:cNvSpPr txBox="1"/>
          <p:nvPr/>
        </p:nvSpPr>
        <p:spPr>
          <a:xfrm>
            <a:off x="1348740" y="2377440"/>
            <a:ext cx="15581376" cy="6126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84048" indent="-384048">
              <a:spcAft>
                <a:spcPts val="200"/>
              </a:spcAft>
              <a:buFont typeface="Arial"/>
              <a:buChar char="•"/>
            </a:pPr>
            <a:r>
              <a:rPr sz="3600" b="1" i="0">
                <a:solidFill>
                  <a:srgbClr val="000000"/>
                </a:solidFill>
                <a:latin typeface="Calibri"/>
              </a:rPr>
              <a:t>Arfat Shaikh</a:t>
            </a:r>
            <a:r>
              <a:rPr sz="3600" b="0" i="0">
                <a:solidFill>
                  <a:srgbClr val="000000"/>
                </a:solidFill>
                <a:latin typeface="Calibri"/>
              </a:rPr>
              <a:t> – Frontend &amp; Integration Developer</a:t>
            </a:r>
          </a:p>
          <a:p>
            <a:pPr algn="l" marL="384048">
              <a:spcAft>
                <a:spcPts val="3000"/>
              </a:spcAft>
            </a:pPr>
            <a:r>
              <a:rPr sz="2600" b="0" i="0">
                <a:solidFill>
                  <a:srgbClr val="404040"/>
                </a:solidFill>
                <a:latin typeface="Calibri"/>
              </a:rPr>
              <a:t>Builds the React dashboard, wires it to the backend APIs and packages the Python SDK and CLI.</a:t>
            </a:r>
          </a:p>
          <a:p>
            <a:pPr algn="l" marL="384048" indent="-384048">
              <a:spcAft>
                <a:spcPts val="200"/>
              </a:spcAft>
              <a:buFont typeface="Arial"/>
              <a:buChar char="•"/>
            </a:pPr>
            <a:r>
              <a:rPr sz="3600" b="1" i="0">
                <a:solidFill>
                  <a:srgbClr val="000000"/>
                </a:solidFill>
                <a:latin typeface="Calibri"/>
              </a:rPr>
              <a:t>Sami Daire</a:t>
            </a:r>
            <a:r>
              <a:rPr sz="3600" b="0" i="0">
                <a:solidFill>
                  <a:srgbClr val="000000"/>
                </a:solidFill>
                <a:latin typeface="Calibri"/>
              </a:rPr>
              <a:t> – Project Lead, ZK Proofs &amp; Verification</a:t>
            </a:r>
          </a:p>
          <a:p>
            <a:pPr algn="l" marL="384048">
              <a:spcAft>
                <a:spcPts val="3000"/>
              </a:spcAft>
            </a:pPr>
            <a:r>
              <a:rPr sz="2600" b="0" i="0">
                <a:solidFill>
                  <a:srgbClr val="404040"/>
                </a:solidFill>
                <a:latin typeface="Calibri"/>
              </a:rPr>
              <a:t>Designs the protocol and the Circom circuit, sets up Groth16 verification and integrates the system.</a:t>
            </a:r>
          </a:p>
          <a:p>
            <a:pPr algn="l" marL="384048" indent="-384048">
              <a:spcAft>
                <a:spcPts val="200"/>
              </a:spcAft>
              <a:buFont typeface="Arial"/>
              <a:buChar char="•"/>
            </a:pPr>
            <a:r>
              <a:rPr sz="3600" b="1" i="0">
                <a:solidFill>
                  <a:srgbClr val="000000"/>
                </a:solidFill>
                <a:latin typeface="Calibri"/>
              </a:rPr>
              <a:t>Mohamed Ansari</a:t>
            </a:r>
            <a:r>
              <a:rPr sz="3600" b="0" i="0">
                <a:solidFill>
                  <a:srgbClr val="000000"/>
                </a:solidFill>
                <a:latin typeface="Calibri"/>
              </a:rPr>
              <a:t> – AI &amp; Watermarking Developer</a:t>
            </a:r>
          </a:p>
          <a:p>
            <a:pPr algn="l" marL="384048">
              <a:spcAft>
                <a:spcPts val="3000"/>
              </a:spcAft>
            </a:pPr>
            <a:r>
              <a:rPr sz="2600" b="0" i="0">
                <a:solidFill>
                  <a:srgbClr val="404040"/>
                </a:solidFill>
                <a:latin typeface="Calibri"/>
              </a:rPr>
              <a:t>Builds embedding and detection for PyTorch, Keras and ONNX, and the attacks in the robustness study.</a:t>
            </a:r>
          </a:p>
          <a:p>
            <a:pPr algn="l" marL="384048" indent="-384048">
              <a:spcAft>
                <a:spcPts val="200"/>
              </a:spcAft>
              <a:buFont typeface="Arial"/>
              <a:buChar char="•"/>
            </a:pPr>
            <a:r>
              <a:rPr sz="3600" b="1" i="0">
                <a:solidFill>
                  <a:srgbClr val="000000"/>
                </a:solidFill>
                <a:latin typeface="Calibri"/>
              </a:rPr>
              <a:t>Yash Bandiwadekar</a:t>
            </a:r>
            <a:r>
              <a:rPr sz="3600" b="0" i="0">
                <a:solidFill>
                  <a:srgbClr val="000000"/>
                </a:solidFill>
                <a:latin typeface="Calibri"/>
              </a:rPr>
              <a:t> – Backend Developer</a:t>
            </a:r>
          </a:p>
          <a:p>
            <a:pPr algn="l" marL="384048">
              <a:spcAft>
                <a:spcPts val="3000"/>
              </a:spcAft>
            </a:pPr>
            <a:r>
              <a:rPr sz="2600" b="0" i="0">
                <a:solidFill>
                  <a:srgbClr val="404040"/>
                </a:solidFill>
                <a:latin typeface="Calibri"/>
              </a:rPr>
              <a:t>Builds the demo server, the FastAPI + PostgreSQL backend and the APIs for verification history.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7300" y="548640"/>
            <a:ext cx="15773400" cy="1988344"/>
            <a:chOff x="0" y="0"/>
            <a:chExt cx="21031200" cy="26511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2651126"/>
            </a:xfrm>
            <a:custGeom>
              <a:avLst/>
              <a:gdLst/>
              <a:ahLst/>
              <a:cxnLst/>
              <a:rect l="l" t="t" r="r" b="b"/>
              <a:pathLst>
                <a:path w="21031200" h="2651126">
                  <a:moveTo>
                    <a:pt x="0" y="0"/>
                  </a:moveTo>
                  <a:lnTo>
                    <a:pt x="21031200" y="0"/>
                  </a:lnTo>
                  <a:lnTo>
                    <a:pt x="21031200" y="2651126"/>
                  </a:lnTo>
                  <a:lnTo>
                    <a:pt x="0" y="26511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4573" b="-10457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8100"/>
              <a:ext cx="21031200" cy="2613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128"/>
                </a:lnSpc>
              </a:pPr>
              <a:r>
                <a:rPr lang="en-US" sz="6600" b="1">
                  <a:solidFill>
                    <a:srgbClr val="00206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Problem Statement and Objectives</a:t>
              </a:r>
              <a:r>
                <a:rPr lang="en-US" sz="6600">
                  <a:solidFill>
                    <a:srgbClr val="00206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/>
              </a:r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348740" y="2286000"/>
            <a:ext cx="15590520" cy="1143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92"/>
              </a:lnSpc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develop a secure and robust AI model watermarking system that enables verifiable ownership authentication while protecting AI models against theft, tampering, and unauthorized use.</a:t>
            </a:r>
          </a:p>
        </p:txBody>
      </p:sp>
      <p:sp>
        <p:nvSpPr>
          <p:cNvPr id="6" name="AutoShape 6"/>
          <p:cNvSpPr/>
          <p:nvPr/>
        </p:nvSpPr>
        <p:spPr>
          <a:xfrm rot="6540">
            <a:off x="-36690" y="8753475"/>
            <a:ext cx="18354446" cy="0"/>
          </a:xfrm>
          <a:prstGeom prst="line">
            <a:avLst/>
          </a:prstGeom>
          <a:ln w="19050" cap="rnd">
            <a:solidFill>
              <a:srgbClr val="00206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3626234" y="9264110"/>
            <a:ext cx="11976868" cy="422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 i="1">
                <a:solidFill>
                  <a:srgbClr val="00206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Department of Computer Science &amp; Engineering (IoTCSBCT), MHSSCE, Mumbai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684897" y="8859650"/>
            <a:ext cx="1516942" cy="1227811"/>
            <a:chOff x="0" y="0"/>
            <a:chExt cx="2022589" cy="1637081"/>
          </a:xfrm>
        </p:grpSpPr>
        <p:sp>
          <p:nvSpPr>
            <p:cNvPr id="9" name="Freeform 9" descr="EOTY(Engineer Of The Year) – MHSSCOE ACM CHAPTER"/>
            <p:cNvSpPr/>
            <p:nvPr/>
          </p:nvSpPr>
          <p:spPr>
            <a:xfrm>
              <a:off x="0" y="0"/>
              <a:ext cx="2022602" cy="1637030"/>
            </a:xfrm>
            <a:custGeom>
              <a:avLst/>
              <a:gdLst/>
              <a:ahLst/>
              <a:cxnLst/>
              <a:rect l="l" t="t" r="r" b="b"/>
              <a:pathLst>
                <a:path w="2022602" h="1637030">
                  <a:moveTo>
                    <a:pt x="0" y="0"/>
                  </a:moveTo>
                  <a:lnTo>
                    <a:pt x="2022602" y="0"/>
                  </a:lnTo>
                  <a:lnTo>
                    <a:pt x="2022602" y="1637030"/>
                  </a:lnTo>
                  <a:lnTo>
                    <a:pt x="0" y="1637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300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Objectives card"/>
          <p:cNvSpPr/>
          <p:nvPr/>
        </p:nvSpPr>
        <p:spPr>
          <a:xfrm>
            <a:off x="1353312" y="3611880"/>
            <a:ext cx="7562088" cy="48463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bjectives text"/>
          <p:cNvSpPr txBox="1"/>
          <p:nvPr/>
        </p:nvSpPr>
        <p:spPr>
          <a:xfrm>
            <a:off x="1673352" y="3794760"/>
            <a:ext cx="6922008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2060"/>
                </a:solidFill>
                <a:latin typeface="Times New Roman"/>
              </a:rPr>
              <a:t>Objectives</a:t>
            </a:r>
          </a:p>
          <a:p>
            <a:pPr algn="l" marL="384048" indent="-384048">
              <a:spcAft>
                <a:spcPts val="10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To develop a secure AI model watermarking system that embeds cryptographic watermarks into AI/ML models for verifiable ownership and intellectual property protection.</a:t>
            </a:r>
          </a:p>
          <a:p>
            <a:pPr algn="l" marL="384048" indent="-384048">
              <a:spcAft>
                <a:spcPts val="10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To implement a privacy-preserving ownership verification mechanism using Zero-Knowledge Proof (ZKP), enabling authentication without revealing the embedded watermark.</a:t>
            </a:r>
          </a:p>
          <a:p>
            <a:pPr algn="l" marL="384048" indent="-384048">
              <a:spcAft>
                <a:spcPts val="10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To evaluate the robustness of the embedded watermark against model modification attacks such as fine-tuning, pruning, quantization, compression, and model extraction while maintaining model performance.</a:t>
            </a:r>
          </a:p>
        </p:txBody>
      </p:sp>
      <p:sp>
        <p:nvSpPr>
          <p:cNvPr id="12" name="Research gap and our approach card"/>
          <p:cNvSpPr/>
          <p:nvPr/>
        </p:nvSpPr>
        <p:spPr>
          <a:xfrm>
            <a:off x="9372600" y="3611880"/>
            <a:ext cx="7562088" cy="48463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search gap and our approach text"/>
          <p:cNvSpPr txBox="1"/>
          <p:nvPr/>
        </p:nvSpPr>
        <p:spPr>
          <a:xfrm>
            <a:off x="9692640" y="3794760"/>
            <a:ext cx="6922008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2060"/>
                </a:solidFill>
                <a:latin typeface="Times New Roman"/>
              </a:rPr>
              <a:t>Research gap and our approach</a:t>
            </a:r>
          </a:p>
          <a:p>
            <a:pPr algn="l" marL="384048" indent="-384048">
              <a:spcAft>
                <a:spcPts val="10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ZK ownership proofs such as ZKROWNN (DAC 2023) let the prover choose the key, so a thief can forge a valid proof.</a:t>
            </a:r>
          </a:p>
          <a:p>
            <a:pPr algn="l" marL="384048" indent="-384048">
              <a:spcAft>
                <a:spcPts val="10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White-box marks are erased by channel permutation and by model extraction (SoK, IEEE S&amp;P 2022).</a:t>
            </a:r>
          </a:p>
          <a:p>
            <a:pPr algn="l" marL="384048" indent="-384048">
              <a:spcAft>
                <a:spcPts val="1000"/>
              </a:spcAft>
              <a:buFont typeface="Arial"/>
              <a:buChar char="•"/>
            </a:pPr>
            <a:r>
              <a:rPr sz="2000" b="1" i="0">
                <a:solidFill>
                  <a:srgbClr val="002060"/>
                </a:solidFill>
                <a:latin typeface="Calibri"/>
              </a:rPr>
              <a:t>Our approach: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commit to a secret seed before release; the zero-knowledge circuit derives the key and signature from it, so a key can't be invented later.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7300" y="-135731"/>
            <a:ext cx="15773400" cy="1988344"/>
            <a:chOff x="0" y="0"/>
            <a:chExt cx="21031200" cy="26511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2651126"/>
            </a:xfrm>
            <a:custGeom>
              <a:avLst/>
              <a:gdLst/>
              <a:ahLst/>
              <a:cxnLst/>
              <a:rect l="l" t="t" r="r" b="b"/>
              <a:pathLst>
                <a:path w="21031200" h="2651126">
                  <a:moveTo>
                    <a:pt x="0" y="0"/>
                  </a:moveTo>
                  <a:lnTo>
                    <a:pt x="21031200" y="0"/>
                  </a:lnTo>
                  <a:lnTo>
                    <a:pt x="21031200" y="2651126"/>
                  </a:lnTo>
                  <a:lnTo>
                    <a:pt x="0" y="26511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4573" b="-104573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031200" cy="2689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00206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Literature Review </a:t>
              </a:r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285875" y="1587137"/>
          <a:ext cx="15718536" cy="59893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112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Year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Paper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Methodology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Findings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24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Limitations</a:t>
                      </a:r>
                      <a:endParaRPr lang="en-US" sz="1100"/>
                    </a:p>
                  </a:txBody>
                  <a:tcPr marT="91440" marB="91440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2017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Uchida et al., Embedding Watermarks into DNNs [1]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Regulariser writes bits into one layer's weights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Survives fine-tuning and 65% pruning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Erased by channel permutation; no ownership proof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2018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 err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Adi et al., Watermarking DNNs by Backdooring [2]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Trigger set; its commitment is the verification key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Black-box check; ZK argument sketched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Efficient ZK proof left open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2018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 err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Rouhani et al., DeepSigns [3]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Mark in activation-map distributions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Generic white-box framework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Key is not committed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2019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Fan et al., Embedding Passports [4]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Passport layers tied to model accuracy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Counters forged (ambiguity) claims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Changes the architecture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2019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 et al., Piracy Resistant Watermarks [5]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RSA-signed owner ID and timestamp, hashed into the mark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Resists a second, pirate watermark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Signature shown to an authority; no ZK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2021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Jia et al., Entangled Watermarks [6]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Mark entangled with task features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Survives model extraction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Black-box only; up to 0.81 pp accuracy cost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2022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Lukas et al., SoK: DNN Watermark Robustness [7]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11 schemes against removal attacks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 robust in practice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Evaluation only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2023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Sheybani et al., ZKROWNN [8]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 err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zk-SNARK proof of watermark extraction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/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Ownership without revealing the key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Key uncommitted, so proofs can be forged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2023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Yang et al., FedZKP [9]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Hash of a public instance as the mark; ZK proof of the secret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Ownership in federated learning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Mark checked in the clear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2026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Yao et al., NeuralMark [10]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Mark is the hash of a secret key</a:t>
                      </a:r>
                      <a:endParaRPr lang="en-US" sz="110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Blocks forging and overwriting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Key given to a trusted verifier; no ZK</a:t>
                      </a:r>
                      <a:endParaRPr lang="en-US" sz="1100" dirty="0"/>
                    </a:p>
                  </a:txBody>
                  <a:tcPr marT="27432" marB="27432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AutoShape 6"/>
          <p:cNvSpPr/>
          <p:nvPr/>
        </p:nvSpPr>
        <p:spPr>
          <a:xfrm rot="6540">
            <a:off x="-36690" y="8753475"/>
            <a:ext cx="18354446" cy="0"/>
          </a:xfrm>
          <a:prstGeom prst="line">
            <a:avLst/>
          </a:prstGeom>
          <a:ln w="19050" cap="rnd">
            <a:solidFill>
              <a:srgbClr val="00206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TextBox 7"/>
          <p:cNvSpPr txBox="1"/>
          <p:nvPr/>
        </p:nvSpPr>
        <p:spPr>
          <a:xfrm>
            <a:off x="3626234" y="9264110"/>
            <a:ext cx="11976868" cy="422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 i="1">
                <a:solidFill>
                  <a:srgbClr val="00206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Department of Computer Science &amp; Engineering (IoTCSBCT), MHSSCE, Mumbai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684897" y="8859650"/>
            <a:ext cx="1516942" cy="1227811"/>
            <a:chOff x="0" y="0"/>
            <a:chExt cx="2022589" cy="1637081"/>
          </a:xfrm>
        </p:grpSpPr>
        <p:sp>
          <p:nvSpPr>
            <p:cNvPr id="9" name="Freeform 9" descr="EOTY(Engineer Of The Year) – MHSSCOE ACM CHAPTER"/>
            <p:cNvSpPr/>
            <p:nvPr/>
          </p:nvSpPr>
          <p:spPr>
            <a:xfrm>
              <a:off x="0" y="0"/>
              <a:ext cx="2022602" cy="1637030"/>
            </a:xfrm>
            <a:custGeom>
              <a:avLst/>
              <a:gdLst/>
              <a:ahLst/>
              <a:cxnLst/>
              <a:rect l="l" t="t" r="r" b="b"/>
              <a:pathLst>
                <a:path w="2022602" h="1637030">
                  <a:moveTo>
                    <a:pt x="0" y="0"/>
                  </a:moveTo>
                  <a:lnTo>
                    <a:pt x="2022602" y="0"/>
                  </a:lnTo>
                  <a:lnTo>
                    <a:pt x="2022602" y="1637030"/>
                  </a:lnTo>
                  <a:lnTo>
                    <a:pt x="0" y="1637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3003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7300" y="548640"/>
            <a:ext cx="15773400" cy="1988345"/>
            <a:chOff x="0" y="0"/>
            <a:chExt cx="21031200" cy="265112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2651127"/>
            </a:xfrm>
            <a:custGeom>
              <a:avLst/>
              <a:gdLst/>
              <a:ahLst/>
              <a:cxnLst/>
              <a:rect l="l" t="t" r="r" b="b"/>
              <a:pathLst>
                <a:path w="21031200" h="2651127">
                  <a:moveTo>
                    <a:pt x="0" y="0"/>
                  </a:moveTo>
                  <a:lnTo>
                    <a:pt x="21031200" y="0"/>
                  </a:lnTo>
                  <a:lnTo>
                    <a:pt x="21031200" y="2651127"/>
                  </a:lnTo>
                  <a:lnTo>
                    <a:pt x="0" y="265112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4573" b="-10457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031200" cy="268922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00206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Proposed Framework</a:t>
              </a:r>
            </a:p>
          </p:txBody>
        </p:sp>
      </p:grpSp>
      <p:sp>
        <p:nvSpPr>
          <p:cNvPr id="6" name="AutoShape 6"/>
          <p:cNvSpPr/>
          <p:nvPr/>
        </p:nvSpPr>
        <p:spPr>
          <a:xfrm rot="6540">
            <a:off x="-36690" y="8753475"/>
            <a:ext cx="18354446" cy="0"/>
          </a:xfrm>
          <a:prstGeom prst="line">
            <a:avLst/>
          </a:prstGeom>
          <a:ln w="19050" cap="rnd">
            <a:solidFill>
              <a:srgbClr val="00206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3626234" y="9264110"/>
            <a:ext cx="11976868" cy="422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 i="1">
                <a:solidFill>
                  <a:srgbClr val="00206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Department of Computer Science &amp; Engineering (IoTCSBCT), MHSSCE, Mumbai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684897" y="8859650"/>
            <a:ext cx="1516942" cy="1227811"/>
            <a:chOff x="0" y="0"/>
            <a:chExt cx="2022589" cy="1637081"/>
          </a:xfrm>
        </p:grpSpPr>
        <p:sp>
          <p:nvSpPr>
            <p:cNvPr id="9" name="Freeform 9" descr="EOTY(Engineer Of The Year) – MHSSCOE ACM CHAPTER"/>
            <p:cNvSpPr/>
            <p:nvPr/>
          </p:nvSpPr>
          <p:spPr>
            <a:xfrm>
              <a:off x="0" y="0"/>
              <a:ext cx="2022602" cy="1637030"/>
            </a:xfrm>
            <a:custGeom>
              <a:avLst/>
              <a:gdLst/>
              <a:ahLst/>
              <a:cxnLst/>
              <a:rect l="l" t="t" r="r" b="b"/>
              <a:pathLst>
                <a:path w="2022602" h="1637030">
                  <a:moveTo>
                    <a:pt x="0" y="0"/>
                  </a:moveTo>
                  <a:lnTo>
                    <a:pt x="2022602" y="0"/>
                  </a:lnTo>
                  <a:lnTo>
                    <a:pt x="2022602" y="1637030"/>
                  </a:lnTo>
                  <a:lnTo>
                    <a:pt x="0" y="1637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300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Stack"/>
          <p:cNvSpPr txBox="1"/>
          <p:nvPr/>
        </p:nvSpPr>
        <p:spPr>
          <a:xfrm>
            <a:off x="1348740" y="2331720"/>
            <a:ext cx="15590520" cy="6126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3200" b="1" i="0">
                <a:solidFill>
                  <a:srgbClr val="000000"/>
                </a:solidFill>
                <a:latin typeface="Calibri"/>
              </a:rPr>
              <a:t>Programming Languages: </a:t>
            </a:r>
            <a:r>
              <a:rPr sz="3200" b="0" i="0">
                <a:solidFill>
                  <a:srgbClr val="000000"/>
                </a:solidFill>
                <a:latin typeface="Calibri"/>
              </a:rPr>
              <a:t>Python, TypeScript, Circom, Solidity</a:t>
            </a:r>
          </a:p>
          <a:p>
            <a:pPr algn="l">
              <a:spcAft>
                <a:spcPts val="1400"/>
              </a:spcAft>
            </a:pPr>
            <a:r>
              <a:rPr sz="3200" b="1" i="0">
                <a:solidFill>
                  <a:srgbClr val="000000"/>
                </a:solidFill>
                <a:latin typeface="Calibri"/>
              </a:rPr>
              <a:t>AI / Machine Learning: </a:t>
            </a:r>
            <a:r>
              <a:rPr sz="3200" b="0" i="0">
                <a:solidFill>
                  <a:srgbClr val="000000"/>
                </a:solidFill>
                <a:latin typeface="Calibri"/>
              </a:rPr>
              <a:t>PyTorch, TensorFlow / Keras, ONNX, NumPy, scikit-learn</a:t>
            </a:r>
          </a:p>
          <a:p>
            <a:pPr algn="l">
              <a:spcAft>
                <a:spcPts val="1400"/>
              </a:spcAft>
            </a:pPr>
            <a:r>
              <a:rPr sz="3200" b="1" i="0">
                <a:solidFill>
                  <a:srgbClr val="000000"/>
                </a:solidFill>
                <a:latin typeface="Calibri"/>
              </a:rPr>
              <a:t>Cryptography &amp; Security: </a:t>
            </a:r>
            <a:r>
              <a:rPr sz="3200" b="0" i="0">
                <a:solidFill>
                  <a:srgbClr val="000000"/>
                </a:solidFill>
                <a:latin typeface="Calibri"/>
              </a:rPr>
              <a:t>SHA-256, Poseidon hash, Ed25519 (ECC) signatures, Circom + SnarkJS (Groth16 zk-SNARK)</a:t>
            </a:r>
          </a:p>
          <a:p>
            <a:pPr algn="l">
              <a:spcAft>
                <a:spcPts val="1400"/>
              </a:spcAft>
            </a:pPr>
            <a:r>
              <a:rPr sz="3200" b="1" i="0">
                <a:solidFill>
                  <a:srgbClr val="000000"/>
                </a:solidFill>
                <a:latin typeface="Calibri"/>
              </a:rPr>
              <a:t>Web Development: </a:t>
            </a:r>
            <a:r>
              <a:rPr sz="3200" b="0" i="0">
                <a:solidFill>
                  <a:srgbClr val="000000"/>
                </a:solidFill>
                <a:latin typeface="Calibri"/>
              </a:rPr>
              <a:t>React + TypeScript (Vite), FastAPI, a local Python demo server</a:t>
            </a:r>
          </a:p>
          <a:p>
            <a:pPr algn="l">
              <a:spcAft>
                <a:spcPts val="1400"/>
              </a:spcAft>
            </a:pPr>
            <a:r>
              <a:rPr sz="3200" b="1" i="0">
                <a:solidFill>
                  <a:srgbClr val="000000"/>
                </a:solidFill>
                <a:latin typeface="Calibri"/>
              </a:rPr>
              <a:t>Database &amp; Storage: </a:t>
            </a:r>
            <a:r>
              <a:rPr sz="3200" b="0" i="0">
                <a:solidFill>
                  <a:srgbClr val="000000"/>
                </a:solidFill>
                <a:latin typeface="Calibri"/>
              </a:rPr>
              <a:t>PostgreSQL 16 (SQLAlchemy, Alembic)</a:t>
            </a:r>
          </a:p>
          <a:p>
            <a:pPr algn="l">
              <a:spcAft>
                <a:spcPts val="1400"/>
              </a:spcAft>
            </a:pPr>
            <a:r>
              <a:rPr sz="3200" b="1" i="0">
                <a:solidFill>
                  <a:srgbClr val="000000"/>
                </a:solidFill>
                <a:latin typeface="Calibri"/>
              </a:rPr>
              <a:t>Development Tools: </a:t>
            </a:r>
            <a:r>
              <a:rPr sz="3200" b="0" i="0">
                <a:solidFill>
                  <a:srgbClr val="000000"/>
                </a:solidFill>
                <a:latin typeface="Calibri"/>
              </a:rPr>
              <a:t>Visual Studio Code, Jupyter Notebook, Git &amp; GitHub Actions, Hardhat (local blockchain)</a:t>
            </a:r>
          </a:p>
          <a:p>
            <a:pPr algn="l">
              <a:spcAft>
                <a:spcPts val="1400"/>
              </a:spcAft>
            </a:pPr>
            <a:r>
              <a:rPr sz="3200" b="1" i="0">
                <a:solidFill>
                  <a:srgbClr val="000000"/>
                </a:solidFill>
                <a:latin typeface="Calibri"/>
              </a:rPr>
              <a:t>Model Formats: </a:t>
            </a:r>
            <a:r>
              <a:rPr sz="3200" b="0" i="0">
                <a:solidFill>
                  <a:srgbClr val="000000"/>
                </a:solidFill>
                <a:latin typeface="Calibri"/>
              </a:rPr>
              <a:t>.pt, .h5 / .keras, .onnx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6540">
            <a:off x="-36690" y="8753475"/>
            <a:ext cx="18354446" cy="0"/>
          </a:xfrm>
          <a:prstGeom prst="line">
            <a:avLst/>
          </a:prstGeom>
          <a:ln w="19050" cap="rnd">
            <a:solidFill>
              <a:srgbClr val="00206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626234" y="9264110"/>
            <a:ext cx="11976868" cy="422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 i="1">
                <a:solidFill>
                  <a:srgbClr val="00206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Department of Computer Science &amp; Engineering (IoTCSBCT), MHSSCE, Mumbai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684897" y="8859650"/>
            <a:ext cx="1516942" cy="1227811"/>
            <a:chOff x="0" y="0"/>
            <a:chExt cx="2022589" cy="1637081"/>
          </a:xfrm>
        </p:grpSpPr>
        <p:sp>
          <p:nvSpPr>
            <p:cNvPr id="5" name="Freeform 5" descr="EOTY(Engineer Of The Year) – MHSSCOE ACM CHAPTER"/>
            <p:cNvSpPr/>
            <p:nvPr/>
          </p:nvSpPr>
          <p:spPr>
            <a:xfrm>
              <a:off x="0" y="0"/>
              <a:ext cx="2022602" cy="1637030"/>
            </a:xfrm>
            <a:custGeom>
              <a:avLst/>
              <a:gdLst/>
              <a:ahLst/>
              <a:cxnLst/>
              <a:rect l="l" t="t" r="r" b="b"/>
              <a:pathLst>
                <a:path w="2022602" h="1637030">
                  <a:moveTo>
                    <a:pt x="0" y="0"/>
                  </a:moveTo>
                  <a:lnTo>
                    <a:pt x="2022602" y="0"/>
                  </a:lnTo>
                  <a:lnTo>
                    <a:pt x="2022602" y="1637030"/>
                  </a:lnTo>
                  <a:lnTo>
                    <a:pt x="0" y="1637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2300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Freeform 6"/>
          <p:cNvSpPr/>
          <p:nvPr/>
        </p:nvSpPr>
        <p:spPr>
          <a:xfrm>
            <a:off x="3233658" y="369786"/>
            <a:ext cx="11820683" cy="7880455"/>
          </a:xfrm>
          <a:custGeom>
            <a:avLst/>
            <a:gdLst/>
            <a:ahLst/>
            <a:cxnLst/>
            <a:rect l="l" t="t" r="r" b="b"/>
            <a:pathLst>
              <a:path w="11820683" h="7880455">
                <a:moveTo>
                  <a:pt x="0" y="0"/>
                </a:moveTo>
                <a:lnTo>
                  <a:pt x="11820684" y="0"/>
                </a:lnTo>
                <a:lnTo>
                  <a:pt x="11820684" y="7880455"/>
                </a:lnTo>
                <a:lnTo>
                  <a:pt x="0" y="78804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7300" y="548640"/>
            <a:ext cx="15773400" cy="1988344"/>
            <a:chOff x="0" y="0"/>
            <a:chExt cx="21031200" cy="26511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2651126"/>
            </a:xfrm>
            <a:custGeom>
              <a:avLst/>
              <a:gdLst/>
              <a:ahLst/>
              <a:cxnLst/>
              <a:rect l="l" t="t" r="r" b="b"/>
              <a:pathLst>
                <a:path w="21031200" h="2651126">
                  <a:moveTo>
                    <a:pt x="0" y="0"/>
                  </a:moveTo>
                  <a:lnTo>
                    <a:pt x="21031200" y="0"/>
                  </a:lnTo>
                  <a:lnTo>
                    <a:pt x="21031200" y="2651126"/>
                  </a:lnTo>
                  <a:lnTo>
                    <a:pt x="0" y="26511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4573" b="-10457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031200" cy="2689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00206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Results</a:t>
              </a:r>
              <a:r>
                <a:rPr lang="en-US" sz="6600">
                  <a:solidFill>
                    <a:srgbClr val="073763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/>
              </a:r>
            </a:p>
          </p:txBody>
        </p:sp>
      </p:grpSp>
      <p:sp>
        <p:nvSpPr>
          <p:cNvPr id="6" name="AutoShape 6"/>
          <p:cNvSpPr/>
          <p:nvPr/>
        </p:nvSpPr>
        <p:spPr>
          <a:xfrm rot="6540">
            <a:off x="-36690" y="8753475"/>
            <a:ext cx="18354446" cy="0"/>
          </a:xfrm>
          <a:prstGeom prst="line">
            <a:avLst/>
          </a:prstGeom>
          <a:ln w="19050" cap="rnd">
            <a:solidFill>
              <a:srgbClr val="00206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3626234" y="9264110"/>
            <a:ext cx="11976868" cy="422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 i="1">
                <a:solidFill>
                  <a:srgbClr val="00206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Department of Computer Science &amp; Engineering (IoTCSBCT), MHSSCE, Mumbai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684897" y="8859650"/>
            <a:ext cx="1516942" cy="1227811"/>
            <a:chOff x="0" y="0"/>
            <a:chExt cx="2022589" cy="1637081"/>
          </a:xfrm>
        </p:grpSpPr>
        <p:sp>
          <p:nvSpPr>
            <p:cNvPr id="9" name="Freeform 9" descr="EOTY(Engineer Of The Year) – MHSSCOE ACM CHAPTER"/>
            <p:cNvSpPr/>
            <p:nvPr/>
          </p:nvSpPr>
          <p:spPr>
            <a:xfrm>
              <a:off x="0" y="0"/>
              <a:ext cx="2022602" cy="1637030"/>
            </a:xfrm>
            <a:custGeom>
              <a:avLst/>
              <a:gdLst/>
              <a:ahLst/>
              <a:cxnLst/>
              <a:rect l="l" t="t" r="r" b="b"/>
              <a:pathLst>
                <a:path w="2022602" h="1637030">
                  <a:moveTo>
                    <a:pt x="0" y="0"/>
                  </a:moveTo>
                  <a:lnTo>
                    <a:pt x="2022602" y="0"/>
                  </a:lnTo>
                  <a:lnTo>
                    <a:pt x="2022602" y="1637030"/>
                  </a:lnTo>
                  <a:lnTo>
                    <a:pt x="0" y="1637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300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Result 1 card"/>
          <p:cNvSpPr/>
          <p:nvPr/>
        </p:nvSpPr>
        <p:spPr>
          <a:xfrm>
            <a:off x="1353312" y="2377440"/>
            <a:ext cx="4892040" cy="60807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sult 1 text"/>
          <p:cNvSpPr txBox="1"/>
          <p:nvPr/>
        </p:nvSpPr>
        <p:spPr>
          <a:xfrm>
            <a:off x="1673352" y="2606040"/>
            <a:ext cx="4251959" cy="566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2060"/>
                </a:solidFill>
                <a:latin typeface="Times New Roman"/>
              </a:rPr>
              <a:t>Robustness</a:t>
            </a:r>
          </a:p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002060"/>
                </a:solidFill>
                <a:latin typeface="Times New Roman"/>
              </a:rPr>
              <a:t>−0.03 pp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404040"/>
                </a:solidFill>
                <a:latin typeface="Calibri"/>
              </a:rPr>
              <a:t>accuracy cost of the 64-bit mark</a:t>
            </a:r>
          </a:p>
          <a:p>
            <a:pPr algn="l" marL="384048" indent="-384048">
              <a:spcAft>
                <a:spcPts val="1200"/>
              </a:spcAft>
              <a:buFont typeface="Arial"/>
              <a:buChar char="•"/>
            </a:pPr>
            <a:r>
              <a:rPr sz="2300" b="0" i="0">
                <a:solidFill>
                  <a:srgbClr val="000000"/>
                </a:solidFill>
                <a:latin typeface="Calibri"/>
              </a:rPr>
              <a:t>Survives 90% pruning, 4-bit quantisation, fine-tuning and a thief's overwrite</a:t>
            </a:r>
          </a:p>
          <a:p>
            <a:pPr algn="l" marL="384048" indent="-384048">
              <a:spcAft>
                <a:spcPts val="1200"/>
              </a:spcAft>
              <a:buFont typeface="Arial"/>
              <a:buChar char="•"/>
            </a:pPr>
            <a:r>
              <a:rPr sz="2300" b="0" i="0">
                <a:solidFill>
                  <a:srgbClr val="000000"/>
                </a:solidFill>
                <a:latin typeface="Calibri"/>
              </a:rPr>
              <a:t>Channel permutation scrambles it; the owner's realignment restores it</a:t>
            </a:r>
          </a:p>
          <a:p>
            <a:pPr algn="l" marL="384048" indent="-384048">
              <a:spcAft>
                <a:spcPts val="1200"/>
              </a:spcAft>
              <a:buFont typeface="Arial"/>
              <a:buChar char="•"/>
            </a:pPr>
            <a:r>
              <a:rPr sz="2300" b="0" i="0">
                <a:solidFill>
                  <a:srgbClr val="000000"/>
                </a:solidFill>
                <a:latin typeface="Calibri"/>
              </a:rPr>
              <a:t>0 of 30 never-marked models accepted (rule: at most 8 of 64 bits wrong)</a:t>
            </a:r>
          </a:p>
        </p:txBody>
      </p:sp>
      <p:sp>
        <p:nvSpPr>
          <p:cNvPr id="12" name="Result 2 card"/>
          <p:cNvSpPr/>
          <p:nvPr/>
        </p:nvSpPr>
        <p:spPr>
          <a:xfrm>
            <a:off x="6697979" y="2377440"/>
            <a:ext cx="4892040" cy="60807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sult 2 text"/>
          <p:cNvSpPr txBox="1"/>
          <p:nvPr/>
        </p:nvSpPr>
        <p:spPr>
          <a:xfrm>
            <a:off x="7018019" y="2606040"/>
            <a:ext cx="4251959" cy="566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2060"/>
                </a:solidFill>
                <a:latin typeface="Times New Roman"/>
              </a:rPr>
              <a:t>Forgery and our fix</a:t>
            </a:r>
          </a:p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002060"/>
                </a:solidFill>
                <a:latin typeface="Times New Roman"/>
              </a:rPr>
              <a:t>0 / 20,000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404040"/>
                </a:solidFill>
                <a:latin typeface="Calibri"/>
              </a:rPr>
              <a:t>forgeries against the committed seed</a:t>
            </a:r>
          </a:p>
          <a:p>
            <a:pPr algn="l" marL="384048" indent="-384048">
              <a:spcAft>
                <a:spcPts val="1200"/>
              </a:spcAft>
              <a:buFont typeface="Arial"/>
              <a:buChar char="•"/>
            </a:pPr>
            <a:r>
              <a:rPr sz="2300" b="0" i="0">
                <a:solidFill>
                  <a:srgbClr val="000000"/>
                </a:solidFill>
                <a:latin typeface="Calibri"/>
              </a:rPr>
              <a:t>Without a commitment, a thief's fake key reads "MALLORY!" with 0 bits wrong</a:t>
            </a:r>
          </a:p>
          <a:p>
            <a:pPr algn="l" marL="384048" indent="-384048">
              <a:spcAft>
                <a:spcPts val="1200"/>
              </a:spcAft>
              <a:buFont typeface="Arial"/>
              <a:buChar char="•"/>
            </a:pPr>
            <a:r>
              <a:rPr sz="2300" b="0" i="0">
                <a:solidFill>
                  <a:srgbClr val="000000"/>
                </a:solidFill>
                <a:latin typeface="Calibri"/>
              </a:rPr>
              <a:t>With EZKL, the forged proof verifies under the owner's own key</a:t>
            </a:r>
          </a:p>
          <a:p>
            <a:pPr algn="l" marL="384048" indent="-384048">
              <a:spcAft>
                <a:spcPts val="1200"/>
              </a:spcAft>
              <a:buFont typeface="Arial"/>
              <a:buChar char="•"/>
            </a:pPr>
            <a:r>
              <a:rPr sz="2300" b="0" i="0">
                <a:solidFill>
                  <a:srgbClr val="000000"/>
                </a:solidFill>
                <a:latin typeface="Calibri"/>
              </a:rPr>
              <a:t>A thief needs about 2</a:t>
            </a:r>
            <a:r>
              <a:rPr sz="2300" b="0" i="0" baseline="30000">
                <a:solidFill>
                  <a:srgbClr val="000000"/>
                </a:solidFill>
                <a:latin typeface="Calibri"/>
              </a:rPr>
              <a:t>32</a:t>
            </a:r>
            <a:r>
              <a:rPr sz="2300" b="0" i="0">
                <a:solidFill>
                  <a:srgbClr val="000000"/>
                </a:solidFill>
                <a:latin typeface="Calibri"/>
              </a:rPr>
              <a:t> tries at 64 bits, 2</a:t>
            </a:r>
            <a:r>
              <a:rPr sz="2300" b="0" i="0" baseline="30000">
                <a:solidFill>
                  <a:srgbClr val="000000"/>
                </a:solidFill>
                <a:latin typeface="Calibri"/>
              </a:rPr>
              <a:t>120</a:t>
            </a:r>
            <a:r>
              <a:rPr sz="2300" b="0" i="0">
                <a:solidFill>
                  <a:srgbClr val="000000"/>
                </a:solidFill>
                <a:latin typeface="Calibri"/>
              </a:rPr>
              <a:t> at 256 bits</a:t>
            </a:r>
          </a:p>
        </p:txBody>
      </p:sp>
      <p:sp>
        <p:nvSpPr>
          <p:cNvPr id="14" name="Result 3 card"/>
          <p:cNvSpPr/>
          <p:nvPr/>
        </p:nvSpPr>
        <p:spPr>
          <a:xfrm>
            <a:off x="12042648" y="2377440"/>
            <a:ext cx="4892040" cy="60807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sult 3 text"/>
          <p:cNvSpPr txBox="1"/>
          <p:nvPr/>
        </p:nvSpPr>
        <p:spPr>
          <a:xfrm>
            <a:off x="12362688" y="2606040"/>
            <a:ext cx="4251959" cy="566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2060"/>
                </a:solidFill>
                <a:latin typeface="Times New Roman"/>
              </a:rPr>
              <a:t>Zero-knowledge proof cost</a:t>
            </a:r>
          </a:p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002060"/>
                </a:solidFill>
                <a:latin typeface="Times New Roman"/>
              </a:rPr>
              <a:t>3.9 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404040"/>
                </a:solidFill>
                <a:latin typeface="Calibri"/>
              </a:rPr>
              <a:t>to prove, 0.41 s to verify (64-bit mark)</a:t>
            </a:r>
          </a:p>
          <a:p>
            <a:pPr algn="l" marL="384048" indent="-384048">
              <a:spcAft>
                <a:spcPts val="1200"/>
              </a:spcAft>
              <a:buFont typeface="Arial"/>
              <a:buChar char="•"/>
            </a:pPr>
            <a:r>
              <a:rPr sz="2300" b="0" i="0">
                <a:solidFill>
                  <a:srgbClr val="000000"/>
                </a:solidFill>
                <a:latin typeface="Calibri"/>
              </a:rPr>
              <a:t>741-byte proof (EZKL: about 61 KB)</a:t>
            </a:r>
          </a:p>
          <a:p>
            <a:pPr algn="l" marL="384048" indent="-384048">
              <a:spcAft>
                <a:spcPts val="1200"/>
              </a:spcAft>
              <a:buFont typeface="Arial"/>
              <a:buChar char="•"/>
            </a:pPr>
            <a:r>
              <a:rPr sz="2300" b="0" i="0">
                <a:solidFill>
                  <a:srgbClr val="000000"/>
                </a:solidFill>
                <a:latin typeface="Calibri"/>
              </a:rPr>
              <a:t>Also verified on-chain, for 243,225 gas</a:t>
            </a:r>
          </a:p>
          <a:p>
            <a:pPr algn="l" marL="384048" indent="-384048">
              <a:spcAft>
                <a:spcPts val="1200"/>
              </a:spcAft>
              <a:buFont typeface="Arial"/>
              <a:buChar char="•"/>
            </a:pPr>
            <a:r>
              <a:rPr sz="2300" b="0" i="0">
                <a:solidFill>
                  <a:srgbClr val="000000"/>
                </a:solidFill>
                <a:latin typeface="Calibri"/>
              </a:rPr>
              <a:t>256-bit mark: 11.6 s to prove, 5.0 GiB peak memory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7300" y="548640"/>
            <a:ext cx="15773400" cy="1988344"/>
            <a:chOff x="0" y="0"/>
            <a:chExt cx="21031200" cy="26511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2651126"/>
            </a:xfrm>
            <a:custGeom>
              <a:avLst/>
              <a:gdLst/>
              <a:ahLst/>
              <a:cxnLst/>
              <a:rect l="l" t="t" r="r" b="b"/>
              <a:pathLst>
                <a:path w="21031200" h="2651126">
                  <a:moveTo>
                    <a:pt x="0" y="0"/>
                  </a:moveTo>
                  <a:lnTo>
                    <a:pt x="21031200" y="0"/>
                  </a:lnTo>
                  <a:lnTo>
                    <a:pt x="21031200" y="2651126"/>
                  </a:lnTo>
                  <a:lnTo>
                    <a:pt x="0" y="26511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4573" b="-10457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031200" cy="2689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00206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Project Timeline and Progress</a:t>
              </a:r>
            </a:p>
          </p:txBody>
        </p:sp>
      </p:grpSp>
      <p:sp>
        <p:nvSpPr>
          <p:cNvPr id="6" name="AutoShape 6"/>
          <p:cNvSpPr/>
          <p:nvPr/>
        </p:nvSpPr>
        <p:spPr>
          <a:xfrm rot="6540">
            <a:off x="-36690" y="8753475"/>
            <a:ext cx="18354446" cy="0"/>
          </a:xfrm>
          <a:prstGeom prst="line">
            <a:avLst/>
          </a:prstGeom>
          <a:ln w="19050" cap="rnd">
            <a:solidFill>
              <a:srgbClr val="00206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3626234" y="9264110"/>
            <a:ext cx="11976868" cy="422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 i="1">
                <a:solidFill>
                  <a:srgbClr val="00206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Department of Computer Science &amp; Engineering (IoTCSBCT), MHSSCE, Mumbai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684897" y="8859650"/>
            <a:ext cx="1516942" cy="1227811"/>
            <a:chOff x="0" y="0"/>
            <a:chExt cx="2022589" cy="1637081"/>
          </a:xfrm>
        </p:grpSpPr>
        <p:sp>
          <p:nvSpPr>
            <p:cNvPr id="9" name="Freeform 9" descr="EOTY(Engineer Of The Year) – MHSSCOE ACM CHAPTER"/>
            <p:cNvSpPr/>
            <p:nvPr/>
          </p:nvSpPr>
          <p:spPr>
            <a:xfrm>
              <a:off x="0" y="0"/>
              <a:ext cx="2022602" cy="1637030"/>
            </a:xfrm>
            <a:custGeom>
              <a:avLst/>
              <a:gdLst/>
              <a:ahLst/>
              <a:cxnLst/>
              <a:rect l="l" t="t" r="r" b="b"/>
              <a:pathLst>
                <a:path w="2022602" h="1637030">
                  <a:moveTo>
                    <a:pt x="0" y="0"/>
                  </a:moveTo>
                  <a:lnTo>
                    <a:pt x="2022602" y="0"/>
                  </a:lnTo>
                  <a:lnTo>
                    <a:pt x="2022602" y="1637030"/>
                  </a:lnTo>
                  <a:lnTo>
                    <a:pt x="0" y="1637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300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10" name="Timeline table"/>
          <p:cNvGraphicFramePr>
            <a:graphicFrameLocks noGrp="1"/>
          </p:cNvGraphicFramePr>
          <p:nvPr/>
        </p:nvGraphicFramePr>
        <p:xfrm>
          <a:off x="1353312" y="2377440"/>
          <a:ext cx="15581376" cy="5925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277856"/>
                <a:gridCol w="2743200"/>
              </a:tblGrid>
              <a:tr h="658368"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9728" marR="109728" marT="36576" marB="36576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W1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Set-up and fixes to the first build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2E7D32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 marL="109728" marR="109728" marT="36576" marB="36576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W2–W4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Protocol v2: commitment, owner identity, registry timestamps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2E7D32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 marL="109728" marR="109728" marT="36576" marB="36576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W3–W8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Zero-knowledge pipeline; SDK for PyTorch, Keras and ONNX (491 tests pass)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2E7D32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 marL="109728" marR="109728" marT="36576" marB="36576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W9–W10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Semester 7 review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002060"/>
                          </a:solidFill>
                          <a:latin typeface="Calibri"/>
                        </a:rPr>
                        <a:t>Upcoming</a:t>
                      </a:r>
                    </a:p>
                  </a:txBody>
                  <a:tcPr marL="109728" marR="109728" marT="36576" marB="36576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W11–W15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Robustness study (MNIST done, CIFAR-10 next); FastAPI + PostgreSQL backend built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9C5700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109728" marR="109728" marT="36576" marB="36576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W15–W17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Integration, evaluation and documentation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595959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109728" marR="109728" marT="36576" marB="36576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W18–W23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New dashboard on the FastAPI backend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595959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109728" marR="109728" marT="36576" marB="36576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W24–W26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0" i="0">
                          <a:solidFill>
                            <a:srgbClr val="000000"/>
                          </a:solidFill>
                          <a:latin typeface="Calibri"/>
                        </a:rPr>
                        <a:t>Final report and viva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000" b="1" i="0">
                          <a:solidFill>
                            <a:srgbClr val="595959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109728" marR="109728" marT="36576" marB="36576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7300" y="548640"/>
            <a:ext cx="15773400" cy="1988344"/>
            <a:chOff x="0" y="0"/>
            <a:chExt cx="21031200" cy="26511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2651126"/>
            </a:xfrm>
            <a:custGeom>
              <a:avLst/>
              <a:gdLst/>
              <a:ahLst/>
              <a:cxnLst/>
              <a:rect l="l" t="t" r="r" b="b"/>
              <a:pathLst>
                <a:path w="21031200" h="2651126">
                  <a:moveTo>
                    <a:pt x="0" y="0"/>
                  </a:moveTo>
                  <a:lnTo>
                    <a:pt x="21031200" y="0"/>
                  </a:lnTo>
                  <a:lnTo>
                    <a:pt x="21031200" y="2651126"/>
                  </a:lnTo>
                  <a:lnTo>
                    <a:pt x="0" y="26511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4573" b="-10457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031200" cy="2689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00206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Outcomes and Future Work</a:t>
              </a:r>
            </a:p>
          </p:txBody>
        </p:sp>
      </p:grpSp>
      <p:sp>
        <p:nvSpPr>
          <p:cNvPr id="6" name="AutoShape 6"/>
          <p:cNvSpPr/>
          <p:nvPr/>
        </p:nvSpPr>
        <p:spPr>
          <a:xfrm rot="6540">
            <a:off x="-36690" y="8753475"/>
            <a:ext cx="18354446" cy="0"/>
          </a:xfrm>
          <a:prstGeom prst="line">
            <a:avLst/>
          </a:prstGeom>
          <a:ln w="19050" cap="rnd">
            <a:solidFill>
              <a:srgbClr val="00206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3626234" y="9264110"/>
            <a:ext cx="11976868" cy="422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 i="1">
                <a:solidFill>
                  <a:srgbClr val="00206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Department of Computer Science &amp; Engineering (IoTCSBCT), MHSSCE, Mumbai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684897" y="8859650"/>
            <a:ext cx="1516942" cy="1227811"/>
            <a:chOff x="0" y="0"/>
            <a:chExt cx="2022589" cy="1637081"/>
          </a:xfrm>
        </p:grpSpPr>
        <p:sp>
          <p:nvSpPr>
            <p:cNvPr id="9" name="Freeform 9" descr="EOTY(Engineer Of The Year) – MHSSCOE ACM CHAPTER"/>
            <p:cNvSpPr/>
            <p:nvPr/>
          </p:nvSpPr>
          <p:spPr>
            <a:xfrm>
              <a:off x="0" y="0"/>
              <a:ext cx="2022602" cy="1637030"/>
            </a:xfrm>
            <a:custGeom>
              <a:avLst/>
              <a:gdLst/>
              <a:ahLst/>
              <a:cxnLst/>
              <a:rect l="l" t="t" r="r" b="b"/>
              <a:pathLst>
                <a:path w="2022602" h="1637030">
                  <a:moveTo>
                    <a:pt x="0" y="0"/>
                  </a:moveTo>
                  <a:lnTo>
                    <a:pt x="2022602" y="0"/>
                  </a:lnTo>
                  <a:lnTo>
                    <a:pt x="2022602" y="1637030"/>
                  </a:lnTo>
                  <a:lnTo>
                    <a:pt x="0" y="1637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300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10" name="Outcome table"/>
          <p:cNvGraphicFramePr>
            <a:graphicFrameLocks noGrp="1"/>
          </p:cNvGraphicFramePr>
          <p:nvPr/>
        </p:nvGraphicFramePr>
        <p:xfrm>
          <a:off x="1353312" y="2377440"/>
          <a:ext cx="15581376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1737360"/>
                <a:gridCol w="8997696"/>
              </a:tblGrid>
              <a:tr h="713232"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Expected outcome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109728" marR="109728" marT="36576" marB="36576" anchor="ctr"/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Secure watermarking for ownership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2E7D32"/>
                          </a:solidFill>
                          <a:latin typeface="Calibri"/>
                        </a:rPr>
                        <a:t>Achieved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64-bit mark, accuracy 98.69% → 98.66%; PyTorch, Keras and ONNX</a:t>
                      </a:r>
                    </a:p>
                  </a:txBody>
                  <a:tcPr marL="109728" marR="109728" marT="36576" marB="36576" anchor="ctr"/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Detection and cryptographic verification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2E7D32"/>
                          </a:solidFill>
                          <a:latin typeface="Calibri"/>
                        </a:rPr>
                        <a:t>Achieved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Ed25519-signed, timestamped registrations; 12 verifier checks</a:t>
                      </a:r>
                    </a:p>
                  </a:txBody>
                  <a:tcPr marL="109728" marR="109728" marT="36576" marB="36576" anchor="ctr"/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Privacy-preserving ZKP authentication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2E7D32"/>
                          </a:solidFill>
                          <a:latin typeface="Calibri"/>
                        </a:rPr>
                        <a:t>Achieved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Circom + Groth16 proof in 3.9 s; also verified on-chain</a:t>
                      </a:r>
                    </a:p>
                  </a:txBody>
                  <a:tcPr marL="109728" marR="109728" marT="36576" marB="36576" anchor="ctr"/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Robustness to modification attacks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9C57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Survives pruning, quantisation, fine-tuning, overwriting; permutation needs realignment; model extraction removes it</a:t>
                      </a:r>
                    </a:p>
                  </a:txBody>
                  <a:tcPr marL="109728" marR="109728" marT="36576" marB="36576" anchor="ctr"/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Framework-agnostic SDK / API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2E7D32"/>
                          </a:solidFill>
                          <a:latin typeface="Calibri"/>
                        </a:rPr>
                        <a:t>Achieved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sigil SDK and CLI: embed, detect, register, prove, verify, attack, report</a:t>
                      </a:r>
                    </a:p>
                  </a:txBody>
                  <a:tcPr marL="109728" marR="109728" marT="36576" marB="36576" anchor="ctr"/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Dashboard and compliance reporting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1" i="0">
                          <a:solidFill>
                            <a:srgbClr val="9C57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109728" marR="109728" marT="36576" marB="36576" anchor="ctr"/>
                </a:tc>
                <a:tc>
                  <a:txBody>
                    <a:bodyPr/>
                    <a:lstStyle/>
                    <a:p>
                      <a:r>
                        <a:rPr sz="1900" b="0" i="0">
                          <a:solidFill>
                            <a:srgbClr val="000000"/>
                          </a:solidFill>
                          <a:latin typeface="Calibri"/>
                        </a:rPr>
                        <a:t>Demo dashboard works; backend with reports built; new UI planned</a:t>
                      </a:r>
                    </a:p>
                  </a:txBody>
                  <a:tcPr marL="109728" marR="109728" marT="36576" marB="36576" anchor="ctr"/>
                </a:tc>
              </a:tr>
            </a:tbl>
          </a:graphicData>
        </a:graphic>
      </p:graphicFrame>
      <p:sp>
        <p:nvSpPr>
          <p:cNvPr id="11" name="Future work"/>
          <p:cNvSpPr txBox="1"/>
          <p:nvPr/>
        </p:nvSpPr>
        <p:spPr>
          <a:xfrm>
            <a:off x="1353312" y="7635240"/>
            <a:ext cx="155813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002060"/>
                </a:solidFill>
                <a:latin typeface="Times New Roman"/>
              </a:rPr>
              <a:t>Future work: </a:t>
            </a:r>
            <a:r>
              <a:rPr sz="2400" b="0" i="0">
                <a:solidFill>
                  <a:srgbClr val="000000"/>
                </a:solidFill>
                <a:latin typeface="Calibri"/>
              </a:rPr>
              <a:t>CIFAR-10 ResNet-18 and 256-bit evaluation · a defence against model extraction · the new dashboard on the backend · the final report.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7300" y="548640"/>
            <a:ext cx="15773400" cy="1988344"/>
            <a:chOff x="0" y="0"/>
            <a:chExt cx="21031200" cy="26511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2651126"/>
            </a:xfrm>
            <a:custGeom>
              <a:avLst/>
              <a:gdLst/>
              <a:ahLst/>
              <a:cxnLst/>
              <a:rect l="l" t="t" r="r" b="b"/>
              <a:pathLst>
                <a:path w="21031200" h="2651126">
                  <a:moveTo>
                    <a:pt x="0" y="0"/>
                  </a:moveTo>
                  <a:lnTo>
                    <a:pt x="21031200" y="0"/>
                  </a:lnTo>
                  <a:lnTo>
                    <a:pt x="21031200" y="2651126"/>
                  </a:lnTo>
                  <a:lnTo>
                    <a:pt x="0" y="26511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4573" b="-10457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031200" cy="2689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00206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References</a:t>
              </a:r>
            </a:p>
          </p:txBody>
        </p:sp>
      </p:grpSp>
      <p:sp>
        <p:nvSpPr>
          <p:cNvPr id="6" name="AutoShape 6"/>
          <p:cNvSpPr/>
          <p:nvPr/>
        </p:nvSpPr>
        <p:spPr>
          <a:xfrm rot="6540">
            <a:off x="-36690" y="8753475"/>
            <a:ext cx="18354446" cy="0"/>
          </a:xfrm>
          <a:prstGeom prst="line">
            <a:avLst/>
          </a:prstGeom>
          <a:ln w="19050" cap="rnd">
            <a:solidFill>
              <a:srgbClr val="00206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3626234" y="9264110"/>
            <a:ext cx="11976868" cy="422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 i="1">
                <a:solidFill>
                  <a:srgbClr val="002060"/>
                </a:solidFill>
                <a:latin typeface="Times New Roman Bold Italics"/>
                <a:ea typeface="Times New Roman Bold Italics"/>
                <a:cs typeface="Times New Roman Bold Italics"/>
                <a:sym typeface="Times New Roman Bold Italics"/>
              </a:rPr>
              <a:t>Department of Computer Science &amp; Engineering (IoTCSBCT), MHSSCE, Mumbai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684897" y="8859650"/>
            <a:ext cx="1516942" cy="1227811"/>
            <a:chOff x="0" y="0"/>
            <a:chExt cx="2022589" cy="1637081"/>
          </a:xfrm>
        </p:grpSpPr>
        <p:sp>
          <p:nvSpPr>
            <p:cNvPr id="9" name="Freeform 9" descr="EOTY(Engineer Of The Year) – MHSSCOE ACM CHAPTER"/>
            <p:cNvSpPr/>
            <p:nvPr/>
          </p:nvSpPr>
          <p:spPr>
            <a:xfrm>
              <a:off x="0" y="0"/>
              <a:ext cx="2022602" cy="1637030"/>
            </a:xfrm>
            <a:custGeom>
              <a:avLst/>
              <a:gdLst/>
              <a:ahLst/>
              <a:cxnLst/>
              <a:rect l="l" t="t" r="r" b="b"/>
              <a:pathLst>
                <a:path w="2022602" h="1637030">
                  <a:moveTo>
                    <a:pt x="0" y="0"/>
                  </a:moveTo>
                  <a:lnTo>
                    <a:pt x="2022602" y="0"/>
                  </a:lnTo>
                  <a:lnTo>
                    <a:pt x="2022602" y="1637030"/>
                  </a:lnTo>
                  <a:lnTo>
                    <a:pt x="0" y="16370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2300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Reference list"/>
          <p:cNvSpPr txBox="1"/>
          <p:nvPr/>
        </p:nvSpPr>
        <p:spPr>
          <a:xfrm>
            <a:off x="1353312" y="2240280"/>
            <a:ext cx="15581376" cy="6309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Times New Roman"/>
              </a:rPr>
              <a:t>[1] Uchida, Nagai, Sakazawa and Satoh, "Embedding Watermarks into Deep Neural Networks," ACM ICMR, pp. 269–277, 2017.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Times New Roman"/>
              </a:rPr>
              <a:t>[2] Adi et al., "Turning Your Weakness Into a Strength: Watermarking Deep Neural Networks by Backdooring," USENIX Security, pp. 1615–1631, 2018.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Times New Roman"/>
              </a:rPr>
              <a:t>[3] Rouhani, Chen and Koushanfar, "DeepSigns: A Generic Watermarking Framework for Protecting the Ownership of Deep Learning Models," arXiv:1804.00750, 2018.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Times New Roman"/>
              </a:rPr>
              <a:t>[4] Fan, Ng and Chan, "Rethinking Deep Neural Network Ownership Verification: Embedding Passports to Defeat Ambiguity Attacks," NeurIPS, 2019.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Times New Roman"/>
              </a:rPr>
              <a:t>[5] Li et al., "Piracy Resistant Watermarks for Deep Neural Networks," arXiv:1910.01226, 2019.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Times New Roman"/>
              </a:rPr>
              <a:t>[6] Jia, Choquette-Choo, Chandrasekaran and Papernot, "Entangled Watermarks as a Defense against Model Extraction," USENIX Security, 2021.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Times New Roman"/>
              </a:rPr>
              <a:t>[7] Lukas, Jiang, Li and Kerschbaum, "SoK: How Robust is Image Classification Deep Neural Network Watermarking?," IEEE S&amp;P, 2022.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Times New Roman"/>
              </a:rPr>
              <a:t>[8] Sheybani, Ghodsi, Kapila and Koushanfar, "ZKROWNN: Zero Knowledge Right of Ownership for Neural Networks," DAC, 2023.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Times New Roman"/>
              </a:rPr>
              <a:t>[9] Yang et al., "FedZKP: Federated Model Ownership Verification with Zero-knowledge Proof," arXiv:2305.04507, 2023.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Times New Roman"/>
              </a:rPr>
              <a:t>[10] Yao, Song and Jin, "Hashed Watermark as a Filter: Defeating Forging and Overwriting Attacks in Weight-based Neural Network Watermarking," AAAI,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7300" y="3753088"/>
            <a:ext cx="15773400" cy="1988344"/>
            <a:chOff x="0" y="0"/>
            <a:chExt cx="21031200" cy="26511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031200" cy="2651126"/>
            </a:xfrm>
            <a:custGeom>
              <a:avLst/>
              <a:gdLst/>
              <a:ahLst/>
              <a:cxnLst/>
              <a:rect l="l" t="t" r="r" b="b"/>
              <a:pathLst>
                <a:path w="21031200" h="2651126">
                  <a:moveTo>
                    <a:pt x="0" y="0"/>
                  </a:moveTo>
                  <a:lnTo>
                    <a:pt x="21031200" y="0"/>
                  </a:lnTo>
                  <a:lnTo>
                    <a:pt x="21031200" y="2651126"/>
                  </a:lnTo>
                  <a:lnTo>
                    <a:pt x="0" y="265112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4573" b="-10457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031200" cy="2689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9720"/>
                </a:lnSpc>
              </a:pPr>
              <a:r>
                <a:rPr lang="en-US" sz="8100" b="1">
                  <a:solidFill>
                    <a:srgbClr val="073763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Thank You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740</Words>
  <Application>Microsoft Office PowerPoint</Application>
  <PresentationFormat>Custom</PresentationFormat>
  <Paragraphs>129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Times New Roman Bold</vt:lpstr>
      <vt:lpstr>Calibri</vt:lpstr>
      <vt:lpstr>Times New Roman</vt:lpstr>
      <vt:lpstr>Calibri (MS)</vt:lpstr>
      <vt:lpstr>Calibri (MS) Bold</vt:lpstr>
      <vt:lpstr>Times New Roman Italics</vt:lpstr>
      <vt:lpstr>Arial</vt:lpstr>
      <vt:lpstr>Times New Roman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OWASP AI Model Watermarking.pptx</dc:title>
  <cp:lastModifiedBy>Arfat Shaikh</cp:lastModifiedBy>
  <cp:revision>3</cp:revision>
  <dcterms:created xsi:type="dcterms:W3CDTF">2006-08-16T00:00:00Z</dcterms:created>
  <dcterms:modified xsi:type="dcterms:W3CDTF">2026-10-05T06:55:35Z</dcterms:modified>
  <dc:identifier>DAHRgsTid00</dc:identifier>
</cp:coreProperties>
</file>