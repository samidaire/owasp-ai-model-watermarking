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8" r:id="rId7"/>
    <p:sldId id="262" r:id="rId8"/>
    <p:sldId id="263" r:id="rId9"/>
    <p:sldId id="269" r:id="rId24"/>
    <p:sldId id="270" r:id="rId25"/>
    <p:sldId id="271" r:id="rId26"/>
    <p:sldId id="264" r:id="rId10"/>
    <p:sldId id="265" r:id="rId11"/>
    <p:sldId id="266" r:id="rId12"/>
    <p:sldId id="267" r:id="rId13"/>
  </p:sldIdLst>
  <p:sldSz cx="18288000" cy="10287000"/>
  <p:notesSz cx="6858000" cy="9144000"/>
  <p:embeddedFontLst>
    <p:embeddedFont>
      <p:font typeface="Calibri (MS)" panose="020B0604020202020204" charset="0"/>
      <p:regular r:id="rId14"/>
    </p:embeddedFont>
    <p:embeddedFont>
      <p:font typeface="Calibri (MS) Bold" panose="020B0604020202020204" charset="0"/>
      <p:regular r:id="rId15"/>
    </p:embeddedFont>
    <p:embeddedFont>
      <p:font typeface="Times New Roman Bold" panose="02020803070505020304" pitchFamily="18" charset="0"/>
      <p:regular r:id="rId16"/>
      <p:bold r:id="rId17"/>
    </p:embeddedFont>
    <p:embeddedFont>
      <p:font typeface="Times New Roman Bold Italics" panose="020B0604020202020204" charset="0"/>
      <p:regular r:id="rId18"/>
    </p:embeddedFont>
    <p:embeddedFont>
      <p:font typeface="Times New Roman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79145" y="2748410"/>
            <a:ext cx="10724436" cy="847725"/>
          </a:xfrm>
          <a:prstGeom prst="rect">
            <a:avLst/>
          </a:prstGeom>
        </p:spPr>
        <p:txBody>
          <a:bodyPr lIns="0" tIns="0" rIns="0" bIns="0" rtlCol="0" anchor="t">
            <a:spAutoFit/>
          </a:bodyPr>
          <a:lstStyle/>
          <a:p>
            <a:pPr algn="ctr">
              <a:lnSpc>
                <a:spcPts val="6480"/>
              </a:lnSpc>
            </a:pPr>
            <a:r>
              <a:rPr lang="en-US" sz="5400" b="1">
                <a:solidFill>
                  <a:srgbClr val="073763"/>
                </a:solidFill>
                <a:latin typeface="Times New Roman Bold"/>
                <a:ea typeface="Times New Roman Bold"/>
                <a:cs typeface="Times New Roman Bold"/>
                <a:sym typeface="Times New Roman Bold"/>
              </a:rPr>
              <a:t>“OWASP AI Model Watermarking”</a:t>
            </a:r>
          </a:p>
        </p:txBody>
      </p:sp>
      <p:sp>
        <p:nvSpPr>
          <p:cNvPr id="3" name="TextBox 3"/>
          <p:cNvSpPr txBox="1"/>
          <p:nvPr/>
        </p:nvSpPr>
        <p:spPr>
          <a:xfrm>
            <a:off x="3508962" y="4663769"/>
            <a:ext cx="11062202" cy="3984039"/>
          </a:xfrm>
          <a:prstGeom prst="rect">
            <a:avLst/>
          </a:prstGeom>
        </p:spPr>
        <p:txBody>
          <a:bodyPr lIns="0" tIns="0" rIns="0" bIns="0" rtlCol="0" anchor="t">
            <a:spAutoFit/>
          </a:bodyPr>
          <a:lstStyle/>
          <a:p>
            <a:pPr algn="ctr">
              <a:lnSpc>
                <a:spcPts val="2856"/>
              </a:lnSpc>
            </a:pPr>
            <a:r>
              <a:rPr lang="en-US" sz="2100" i="1" dirty="0">
                <a:solidFill>
                  <a:srgbClr val="000000"/>
                </a:solidFill>
                <a:latin typeface="Times New Roman Italics"/>
                <a:ea typeface="Times New Roman Italics"/>
                <a:cs typeface="Times New Roman Italics"/>
                <a:sym typeface="Times New Roman Italics"/>
              </a:rPr>
              <a:t>Presented by</a:t>
            </a:r>
          </a:p>
          <a:p>
            <a:pPr algn="ctr">
              <a:lnSpc>
                <a:spcPts val="3264"/>
              </a:lnSpc>
            </a:pPr>
            <a:r>
              <a:rPr lang="en-US" sz="2400" b="1" dirty="0">
                <a:solidFill>
                  <a:srgbClr val="000000"/>
                </a:solidFill>
                <a:latin typeface="Times New Roman Bold"/>
                <a:ea typeface="Times New Roman Bold"/>
                <a:cs typeface="Times New Roman Bold"/>
                <a:sym typeface="Times New Roman Bold"/>
              </a:rPr>
              <a:t>Shaikh Arfat Zakir [231846]</a:t>
            </a:r>
          </a:p>
          <a:p>
            <a:pPr algn="ctr">
              <a:lnSpc>
                <a:spcPts val="3264"/>
              </a:lnSpc>
            </a:pPr>
            <a:r>
              <a:rPr lang="en-US" sz="2400" b="1" dirty="0">
                <a:solidFill>
                  <a:srgbClr val="000000"/>
                </a:solidFill>
                <a:latin typeface="Times New Roman Bold"/>
                <a:ea typeface="Times New Roman Bold"/>
                <a:cs typeface="Times New Roman Bold"/>
                <a:sym typeface="Times New Roman Bold"/>
              </a:rPr>
              <a:t>Daire Sami Navid [231813]</a:t>
            </a:r>
          </a:p>
          <a:p>
            <a:pPr algn="ctr">
              <a:lnSpc>
                <a:spcPts val="3264"/>
              </a:lnSpc>
            </a:pPr>
            <a:r>
              <a:rPr lang="en-US" sz="2400" b="1" dirty="0">
                <a:solidFill>
                  <a:srgbClr val="000000"/>
                </a:solidFill>
                <a:latin typeface="Times New Roman Bold"/>
                <a:ea typeface="Times New Roman Bold"/>
                <a:cs typeface="Times New Roman Bold"/>
                <a:sym typeface="Times New Roman Bold"/>
              </a:rPr>
              <a:t>Ansari Mohamed Abdullah [231803]</a:t>
            </a:r>
          </a:p>
          <a:p>
            <a:pPr algn="ctr">
              <a:lnSpc>
                <a:spcPts val="3264"/>
              </a:lnSpc>
            </a:pPr>
            <a:r>
              <a:rPr lang="en-US" sz="2400" b="1" dirty="0">
                <a:solidFill>
                  <a:srgbClr val="000000"/>
                </a:solidFill>
                <a:latin typeface="Times New Roman Bold"/>
                <a:ea typeface="Times New Roman Bold"/>
                <a:cs typeface="Times New Roman Bold"/>
                <a:sym typeface="Times New Roman Bold"/>
              </a:rPr>
              <a:t>Yash Bandiwadekar [231810]</a:t>
            </a:r>
          </a:p>
          <a:p>
            <a:pPr algn="ctr">
              <a:lnSpc>
                <a:spcPts val="3264"/>
              </a:lnSpc>
            </a:pPr>
            <a:endParaRPr lang="en-US" sz="2400" b="1" dirty="0">
              <a:solidFill>
                <a:srgbClr val="000000"/>
              </a:solidFill>
              <a:latin typeface="Times New Roman Bold"/>
              <a:ea typeface="Times New Roman Bold"/>
              <a:cs typeface="Times New Roman Bold"/>
              <a:sym typeface="Times New Roman Bold"/>
            </a:endParaRPr>
          </a:p>
          <a:p>
            <a:pPr algn="ctr">
              <a:lnSpc>
                <a:spcPts val="2856"/>
              </a:lnSpc>
            </a:pPr>
            <a:r>
              <a:rPr lang="en-US" sz="2100" i="1" dirty="0">
                <a:solidFill>
                  <a:srgbClr val="000000"/>
                </a:solidFill>
                <a:latin typeface="Times New Roman Italics"/>
                <a:ea typeface="Times New Roman Italics"/>
                <a:cs typeface="Times New Roman Italics"/>
                <a:sym typeface="Times New Roman Italics"/>
              </a:rPr>
              <a:t>Under the guidance of </a:t>
            </a:r>
          </a:p>
          <a:p>
            <a:pPr algn="ctr">
              <a:lnSpc>
                <a:spcPts val="2856"/>
              </a:lnSpc>
            </a:pPr>
            <a:r>
              <a:rPr lang="en-US" sz="2100" b="1" dirty="0">
                <a:solidFill>
                  <a:srgbClr val="000000"/>
                </a:solidFill>
                <a:latin typeface="Times New Roman Bold"/>
                <a:ea typeface="Times New Roman Bold"/>
                <a:cs typeface="Times New Roman Bold"/>
                <a:sym typeface="Times New Roman Bold"/>
              </a:rPr>
              <a:t>Dr. Shafi Pathan</a:t>
            </a:r>
          </a:p>
          <a:p>
            <a:pPr algn="ctr">
              <a:lnSpc>
                <a:spcPts val="2856"/>
              </a:lnSpc>
            </a:pPr>
            <a:r>
              <a:rPr lang="en-US" sz="2100" dirty="0">
                <a:solidFill>
                  <a:srgbClr val="000000"/>
                </a:solidFill>
                <a:latin typeface="Times New Roman"/>
                <a:ea typeface="Times New Roman"/>
                <a:cs typeface="Times New Roman"/>
                <a:sym typeface="Times New Roman"/>
              </a:rPr>
              <a:t>(Principal)</a:t>
            </a:r>
          </a:p>
          <a:p>
            <a:pPr algn="ctr">
              <a:lnSpc>
                <a:spcPts val="3264"/>
              </a:lnSpc>
            </a:pPr>
            <a:endParaRPr lang="en-US" sz="2100" dirty="0">
              <a:solidFill>
                <a:srgbClr val="000000"/>
              </a:solidFill>
              <a:latin typeface="Times New Roman"/>
              <a:ea typeface="Times New Roman"/>
              <a:cs typeface="Times New Roman"/>
              <a:sym typeface="Times New Roman"/>
            </a:endParaRPr>
          </a:p>
        </p:txBody>
      </p:sp>
      <p:sp>
        <p:nvSpPr>
          <p:cNvPr id="4" name="TextBox 4"/>
          <p:cNvSpPr txBox="1"/>
          <p:nvPr/>
        </p:nvSpPr>
        <p:spPr>
          <a:xfrm>
            <a:off x="6592824" y="1046674"/>
            <a:ext cx="4894478" cy="1968437"/>
          </a:xfrm>
          <a:prstGeom prst="rect">
            <a:avLst/>
          </a:prstGeom>
        </p:spPr>
        <p:txBody>
          <a:bodyPr lIns="0" tIns="0" rIns="0" bIns="0" rtlCol="0" anchor="t">
            <a:spAutoFit/>
          </a:bodyPr>
          <a:lstStyle/>
          <a:p>
            <a:pPr algn="ctr">
              <a:lnSpc>
                <a:spcPts val="5759"/>
              </a:lnSpc>
            </a:pPr>
            <a:r>
              <a:rPr lang="en-US" sz="4800">
                <a:solidFill>
                  <a:srgbClr val="000000"/>
                </a:solidFill>
                <a:latin typeface="Times New Roman"/>
                <a:ea typeface="Times New Roman"/>
                <a:cs typeface="Times New Roman"/>
                <a:sym typeface="Times New Roman"/>
              </a:rPr>
              <a:t>Project Presentation</a:t>
            </a:r>
          </a:p>
          <a:p>
            <a:pPr algn="ctr">
              <a:lnSpc>
                <a:spcPts val="3240"/>
              </a:lnSpc>
            </a:pPr>
            <a:r>
              <a:rPr lang="en-US" sz="2700" i="1">
                <a:solidFill>
                  <a:srgbClr val="000000"/>
                </a:solidFill>
                <a:latin typeface="Times New Roman Italics"/>
                <a:ea typeface="Times New Roman Italics"/>
                <a:cs typeface="Times New Roman Italics"/>
                <a:sym typeface="Times New Roman Italics"/>
              </a:rPr>
              <a:t>on</a:t>
            </a:r>
          </a:p>
        </p:txBody>
      </p:sp>
      <p:sp>
        <p:nvSpPr>
          <p:cNvPr id="5" name="AutoShape 5"/>
          <p:cNvSpPr/>
          <p:nvPr/>
        </p:nvSpPr>
        <p:spPr>
          <a:xfrm rot="6540">
            <a:off x="-36690" y="8753475"/>
            <a:ext cx="18354446" cy="0"/>
          </a:xfrm>
          <a:prstGeom prst="line">
            <a:avLst/>
          </a:prstGeom>
          <a:ln w="19050" cap="rnd">
            <a:solidFill>
              <a:srgbClr val="000000"/>
            </a:solidFill>
            <a:prstDash val="solid"/>
            <a:headEnd type="none" w="sm" len="sm"/>
            <a:tailEnd type="none" w="sm" len="sm"/>
          </a:ln>
        </p:spPr>
        <p:txBody>
          <a:bodyPr/>
          <a:lstStyle/>
          <a:p>
            <a:endParaRPr lang="en-US"/>
          </a:p>
        </p:txBody>
      </p:sp>
      <p:sp>
        <p:nvSpPr>
          <p:cNvPr id="6" name="TextBox 6"/>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000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7" name="Group 7"/>
          <p:cNvGrpSpPr/>
          <p:nvPr/>
        </p:nvGrpSpPr>
        <p:grpSpPr>
          <a:xfrm>
            <a:off x="2684897" y="8859650"/>
            <a:ext cx="1516942" cy="1227811"/>
            <a:chOff x="0" y="0"/>
            <a:chExt cx="2022589" cy="1637081"/>
          </a:xfrm>
        </p:grpSpPr>
        <p:sp>
          <p:nvSpPr>
            <p:cNvPr id="8" name="Freeform 8"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2"/>
              <a:stretch>
                <a:fillRect b="-23003"/>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13025"/>
            </a:xfrm>
            <a:prstGeom prst="rect">
              <a:avLst/>
            </a:prstGeom>
          </p:spPr>
          <p:txBody>
            <a:bodyPr lIns="0" tIns="0" rIns="0" bIns="0" rtlCol="0" anchor="ctr"/>
            <a:lstStyle/>
            <a:p>
              <a:pPr algn="l">
                <a:lnSpc>
                  <a:spcPts val="7128"/>
                </a:lnSpc>
              </a:pPr>
              <a:r>
                <a:rPr lang="en-US" sz="6600" b="1">
                  <a:solidFill>
                    <a:srgbClr val="002060"/>
                  </a:solidFill>
                  <a:latin typeface="Times New Roman Bold"/>
                  <a:ea typeface="Times New Roman Bold"/>
                  <a:cs typeface="Times New Roman Bold"/>
                  <a:sym typeface="Times New Roman Bold"/>
                </a:rPr>
                <a:t>Outline</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Outline 1"/>
          <p:cNvSpPr txBox="1"/>
          <p:nvPr/>
        </p:nvSpPr>
        <p:spPr>
          <a:xfrm>
            <a:off x="1463040" y="2468880"/>
            <a:ext cx="7498079" cy="5852160"/>
          </a:xfrm>
          <a:prstGeom prst="rect">
            <a:avLst/>
          </a:prstGeom>
          <a:noFill/>
        </p:spPr>
        <p:txBody>
          <a:bodyPr wrap="square" lIns="0" rIns="0" tIns="0" bIns="0" anchor="t">
            <a:spAutoFit/>
          </a:bodyPr>
          <a:lstStyle/>
          <a:p>
            <a:pPr algn="l" marL="384048" indent="-384048">
              <a:spcAft>
                <a:spcPts val="1000"/>
              </a:spcAft>
              <a:buFont typeface="Arial"/>
              <a:buChar char="•"/>
            </a:pPr>
            <a:r>
              <a:rPr sz="3600" b="0" i="0">
                <a:solidFill>
                  <a:srgbClr val="000000"/>
                </a:solidFill>
                <a:latin typeface="Times New Roman"/>
              </a:rPr>
              <a:t>Team Responsibilities</a:t>
            </a:r>
          </a:p>
          <a:p>
            <a:pPr algn="l" marL="384048" indent="-384048">
              <a:spcAft>
                <a:spcPts val="1000"/>
              </a:spcAft>
              <a:buFont typeface="Arial"/>
              <a:buChar char="•"/>
            </a:pPr>
            <a:r>
              <a:rPr sz="3600" b="0" i="0">
                <a:solidFill>
                  <a:srgbClr val="000000"/>
                </a:solidFill>
                <a:latin typeface="Times New Roman"/>
              </a:rPr>
              <a:t>Objectives</a:t>
            </a:r>
          </a:p>
          <a:p>
            <a:pPr algn="l" marL="384048" indent="-384048">
              <a:spcAft>
                <a:spcPts val="1000"/>
              </a:spcAft>
              <a:buFont typeface="Arial"/>
              <a:buChar char="•"/>
            </a:pPr>
            <a:r>
              <a:rPr sz="3600" b="0" i="0">
                <a:solidFill>
                  <a:srgbClr val="000000"/>
                </a:solidFill>
                <a:latin typeface="Times New Roman"/>
              </a:rPr>
              <a:t>Problem Statement</a:t>
            </a:r>
          </a:p>
          <a:p>
            <a:pPr algn="l" marL="384048" indent="-384048">
              <a:spcAft>
                <a:spcPts val="1000"/>
              </a:spcAft>
              <a:buFont typeface="Arial"/>
              <a:buChar char="•"/>
            </a:pPr>
            <a:r>
              <a:rPr sz="3600" b="0" i="0">
                <a:solidFill>
                  <a:srgbClr val="000000"/>
                </a:solidFill>
                <a:latin typeface="Times New Roman"/>
              </a:rPr>
              <a:t>Literature Review</a:t>
            </a:r>
          </a:p>
          <a:p>
            <a:pPr algn="l" marL="384048" indent="-384048">
              <a:spcAft>
                <a:spcPts val="1000"/>
              </a:spcAft>
              <a:buFont typeface="Arial"/>
              <a:buChar char="•"/>
            </a:pPr>
            <a:r>
              <a:rPr sz="3600" b="0" i="0">
                <a:solidFill>
                  <a:srgbClr val="000000"/>
                </a:solidFill>
                <a:latin typeface="Times New Roman"/>
              </a:rPr>
              <a:t>Proposed Framework</a:t>
            </a:r>
          </a:p>
          <a:p>
            <a:pPr algn="l" marL="384048" indent="-384048">
              <a:spcAft>
                <a:spcPts val="1000"/>
              </a:spcAft>
              <a:buFont typeface="Arial"/>
              <a:buChar char="•"/>
            </a:pPr>
            <a:r>
              <a:rPr sz="3600" b="0" i="0">
                <a:solidFill>
                  <a:srgbClr val="000000"/>
                </a:solidFill>
                <a:latin typeface="Times New Roman"/>
              </a:rPr>
              <a:t>System Architecture</a:t>
            </a:r>
          </a:p>
        </p:txBody>
      </p:sp>
      <p:sp>
        <p:nvSpPr>
          <p:cNvPr id="11" name="Outline 2"/>
          <p:cNvSpPr txBox="1"/>
          <p:nvPr/>
        </p:nvSpPr>
        <p:spPr>
          <a:xfrm>
            <a:off x="9326880" y="2468880"/>
            <a:ext cx="7498079" cy="5852160"/>
          </a:xfrm>
          <a:prstGeom prst="rect">
            <a:avLst/>
          </a:prstGeom>
          <a:noFill/>
        </p:spPr>
        <p:txBody>
          <a:bodyPr wrap="square" lIns="0" rIns="0" tIns="0" bIns="0" anchor="t">
            <a:spAutoFit/>
          </a:bodyPr>
          <a:lstStyle/>
          <a:p>
            <a:pPr algn="l" marL="384048" indent="-384048">
              <a:spcAft>
                <a:spcPts val="1000"/>
              </a:spcAft>
              <a:buFont typeface="Arial"/>
              <a:buChar char="•"/>
            </a:pPr>
            <a:r>
              <a:rPr sz="3600" b="0" i="0">
                <a:solidFill>
                  <a:srgbClr val="000000"/>
                </a:solidFill>
                <a:latin typeface="Times New Roman"/>
              </a:rPr>
              <a:t>System Workflow</a:t>
            </a:r>
          </a:p>
          <a:p>
            <a:pPr algn="l" marL="384048" indent="-384048">
              <a:spcAft>
                <a:spcPts val="1000"/>
              </a:spcAft>
              <a:buFont typeface="Arial"/>
              <a:buChar char="•"/>
            </a:pPr>
            <a:r>
              <a:rPr sz="3600" b="0" i="0">
                <a:solidFill>
                  <a:srgbClr val="000000"/>
                </a:solidFill>
                <a:latin typeface="Times New Roman"/>
              </a:rPr>
              <a:t>Results</a:t>
            </a:r>
          </a:p>
          <a:p>
            <a:pPr algn="l" marL="384048" indent="-384048">
              <a:spcAft>
                <a:spcPts val="1000"/>
              </a:spcAft>
              <a:buFont typeface="Arial"/>
              <a:buChar char="•"/>
            </a:pPr>
            <a:r>
              <a:rPr sz="3600" b="0" i="0">
                <a:solidFill>
                  <a:srgbClr val="000000"/>
                </a:solidFill>
                <a:latin typeface="Times New Roman"/>
              </a:rPr>
              <a:t>Working Prototype</a:t>
            </a:r>
          </a:p>
          <a:p>
            <a:pPr algn="l" marL="384048" indent="-384048">
              <a:spcAft>
                <a:spcPts val="1000"/>
              </a:spcAft>
              <a:buFont typeface="Arial"/>
              <a:buChar char="•"/>
            </a:pPr>
            <a:r>
              <a:rPr sz="3600" b="0" i="0">
                <a:solidFill>
                  <a:srgbClr val="000000"/>
                </a:solidFill>
                <a:latin typeface="Times New Roman"/>
              </a:rPr>
              <a:t>Project Timeline and Progress</a:t>
            </a:r>
          </a:p>
          <a:p>
            <a:pPr algn="l" marL="384048" indent="-384048">
              <a:spcAft>
                <a:spcPts val="1000"/>
              </a:spcAft>
              <a:buFont typeface="Arial"/>
              <a:buChar char="•"/>
            </a:pPr>
            <a:r>
              <a:rPr sz="3600" b="0" i="0">
                <a:solidFill>
                  <a:srgbClr val="000000"/>
                </a:solidFill>
                <a:latin typeface="Times New Roman"/>
              </a:rPr>
              <a:t>Outcomes and Future Work</a:t>
            </a:r>
          </a:p>
          <a:p>
            <a:pPr algn="l" marL="384048" indent="-384048">
              <a:spcAft>
                <a:spcPts val="1000"/>
              </a:spcAft>
              <a:buFont typeface="Arial"/>
              <a:buChar char="•"/>
            </a:pPr>
            <a:r>
              <a:rPr sz="3600" b="0" i="0">
                <a:solidFill>
                  <a:srgbClr val="000000"/>
                </a:solidFill>
                <a:latin typeface="Times New Roman"/>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13025"/>
            </a:xfrm>
            <a:prstGeom prst="rect">
              <a:avLst/>
            </a:prstGeom>
          </p:spPr>
          <p:txBody>
            <a:bodyPr lIns="0" tIns="0" rIns="0" bIns="0" rtlCol="0" anchor="ctr"/>
            <a:lstStyle/>
            <a:p>
              <a:pPr algn="l">
                <a:lnSpc>
                  <a:spcPts val="7128"/>
                </a:lnSpc>
              </a:pPr>
              <a:r>
                <a:rPr lang="en-US" sz="6600" b="1">
                  <a:solidFill>
                    <a:srgbClr val="002060"/>
                  </a:solidFill>
                  <a:latin typeface="Times New Roman Bold"/>
                  <a:ea typeface="Times New Roman Bold"/>
                  <a:cs typeface="Times New Roman Bold"/>
                  <a:sym typeface="Times New Roman Bold"/>
                </a:rPr>
                <a:t>Team Responsibilities</a:t>
              </a:r>
              <a:r>
                <a:rPr lang="en-US" sz="6600">
                  <a:solidFill>
                    <a:srgbClr val="073763"/>
                  </a:solidFill>
                  <a:latin typeface="Times New Roman"/>
                  <a:ea typeface="Times New Roman"/>
                  <a:cs typeface="Times New Roman"/>
                  <a:sym typeface="Times New Roman"/>
                </a:rPr>
                <a:t> </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Team"/>
          <p:cNvSpPr txBox="1"/>
          <p:nvPr/>
        </p:nvSpPr>
        <p:spPr>
          <a:xfrm>
            <a:off x="1348740" y="2377440"/>
            <a:ext cx="15581376" cy="6126480"/>
          </a:xfrm>
          <a:prstGeom prst="rect">
            <a:avLst/>
          </a:prstGeom>
          <a:noFill/>
        </p:spPr>
        <p:txBody>
          <a:bodyPr wrap="square" lIns="0" rIns="0" tIns="0" bIns="0" anchor="t">
            <a:spAutoFit/>
          </a:bodyPr>
          <a:lstStyle/>
          <a:p>
            <a:pPr algn="l" marL="384048" indent="-384048">
              <a:spcAft>
                <a:spcPts val="200"/>
              </a:spcAft>
              <a:buFont typeface="Arial"/>
              <a:buChar char="•"/>
            </a:pPr>
            <a:r>
              <a:rPr sz="3600" b="1" i="0">
                <a:solidFill>
                  <a:srgbClr val="000000"/>
                </a:solidFill>
                <a:latin typeface="Calibri"/>
              </a:rPr>
              <a:t>Arfat Shaikh</a:t>
            </a:r>
            <a:r>
              <a:rPr sz="3600" b="0" i="0">
                <a:solidFill>
                  <a:srgbClr val="000000"/>
                </a:solidFill>
                <a:latin typeface="Calibri"/>
              </a:rPr>
              <a:t> – Frontend &amp; Integration Developer</a:t>
            </a:r>
          </a:p>
          <a:p>
            <a:pPr algn="l" marL="384048">
              <a:spcAft>
                <a:spcPts val="3000"/>
              </a:spcAft>
            </a:pPr>
            <a:r>
              <a:rPr sz="2600" b="0" i="0">
                <a:solidFill>
                  <a:srgbClr val="404040"/>
                </a:solidFill>
                <a:latin typeface="Calibri"/>
              </a:rPr>
              <a:t>Builds the React dashboard, wires it to the backend APIs and packages the Python SDK and CLI.</a:t>
            </a:r>
          </a:p>
          <a:p>
            <a:pPr algn="l" marL="384048" indent="-384048">
              <a:spcAft>
                <a:spcPts val="200"/>
              </a:spcAft>
              <a:buFont typeface="Arial"/>
              <a:buChar char="•"/>
            </a:pPr>
            <a:r>
              <a:rPr sz="3600" b="1" i="0">
                <a:solidFill>
                  <a:srgbClr val="000000"/>
                </a:solidFill>
                <a:latin typeface="Calibri"/>
              </a:rPr>
              <a:t>Sami Daire</a:t>
            </a:r>
            <a:r>
              <a:rPr sz="3600" b="0" i="0">
                <a:solidFill>
                  <a:srgbClr val="000000"/>
                </a:solidFill>
                <a:latin typeface="Calibri"/>
              </a:rPr>
              <a:t> – Project Lead, ZK Proofs &amp; Verification</a:t>
            </a:r>
          </a:p>
          <a:p>
            <a:pPr algn="l" marL="384048">
              <a:spcAft>
                <a:spcPts val="3000"/>
              </a:spcAft>
            </a:pPr>
            <a:r>
              <a:rPr sz="2600" b="0" i="0">
                <a:solidFill>
                  <a:srgbClr val="404040"/>
                </a:solidFill>
                <a:latin typeface="Calibri"/>
              </a:rPr>
              <a:t>Designs the protocol and the Circom circuit, sets up Groth16 verification and integrates the system.</a:t>
            </a:r>
          </a:p>
          <a:p>
            <a:pPr algn="l" marL="384048" indent="-384048">
              <a:spcAft>
                <a:spcPts val="200"/>
              </a:spcAft>
              <a:buFont typeface="Arial"/>
              <a:buChar char="•"/>
            </a:pPr>
            <a:r>
              <a:rPr sz="3600" b="1" i="0">
                <a:solidFill>
                  <a:srgbClr val="000000"/>
                </a:solidFill>
                <a:latin typeface="Calibri"/>
              </a:rPr>
              <a:t>Mohamed Ansari</a:t>
            </a:r>
            <a:r>
              <a:rPr sz="3600" b="0" i="0">
                <a:solidFill>
                  <a:srgbClr val="000000"/>
                </a:solidFill>
                <a:latin typeface="Calibri"/>
              </a:rPr>
              <a:t> – AI &amp; Watermarking Developer</a:t>
            </a:r>
          </a:p>
          <a:p>
            <a:pPr algn="l" marL="384048">
              <a:spcAft>
                <a:spcPts val="3000"/>
              </a:spcAft>
            </a:pPr>
            <a:r>
              <a:rPr sz="2600" b="0" i="0">
                <a:solidFill>
                  <a:srgbClr val="404040"/>
                </a:solidFill>
                <a:latin typeface="Calibri"/>
              </a:rPr>
              <a:t>Builds embedding and detection for PyTorch, Keras and ONNX, and the attacks in the robustness study.</a:t>
            </a:r>
          </a:p>
          <a:p>
            <a:pPr algn="l" marL="384048" indent="-384048">
              <a:spcAft>
                <a:spcPts val="200"/>
              </a:spcAft>
              <a:buFont typeface="Arial"/>
              <a:buChar char="•"/>
            </a:pPr>
            <a:r>
              <a:rPr sz="3600" b="1" i="0">
                <a:solidFill>
                  <a:srgbClr val="000000"/>
                </a:solidFill>
                <a:latin typeface="Calibri"/>
              </a:rPr>
              <a:t>Yash Bandiwadekar</a:t>
            </a:r>
            <a:r>
              <a:rPr sz="3600" b="0" i="0">
                <a:solidFill>
                  <a:srgbClr val="000000"/>
                </a:solidFill>
                <a:latin typeface="Calibri"/>
              </a:rPr>
              <a:t> – Backend Developer</a:t>
            </a:r>
          </a:p>
          <a:p>
            <a:pPr algn="l" marL="384048">
              <a:spcAft>
                <a:spcPts val="3000"/>
              </a:spcAft>
            </a:pPr>
            <a:r>
              <a:rPr sz="2600" b="0" i="0">
                <a:solidFill>
                  <a:srgbClr val="404040"/>
                </a:solidFill>
                <a:latin typeface="Calibri"/>
              </a:rPr>
              <a:t>Builds the demo server, the FastAPI + PostgreSQL backend and the APIs for verification history.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Objectives</a:t>
              </a:r>
              <a:r>
                <a:rPr lang="en-US" sz="6600">
                  <a:solidFill>
                    <a:srgbClr val="073763"/>
                  </a:solidFill>
                  <a:latin typeface="Times New Roman"/>
                  <a:ea typeface="Times New Roman"/>
                  <a:cs typeface="Times New Roman"/>
                  <a:sym typeface="Times New Roman"/>
                </a:rPr>
                <a:t> </a:t>
              </a:r>
            </a:p>
          </p:txBody>
        </p:sp>
      </p:grpSp>
      <p:sp>
        <p:nvSpPr>
          <p:cNvPr id="5" name="TextBox 5"/>
          <p:cNvSpPr txBox="1"/>
          <p:nvPr/>
        </p:nvSpPr>
        <p:spPr>
          <a:xfrm>
            <a:off x="1348740" y="2309308"/>
            <a:ext cx="15590520" cy="6028563"/>
          </a:xfrm>
          <a:prstGeom prst="rect">
            <a:avLst/>
          </a:prstGeom>
        </p:spPr>
        <p:txBody>
          <a:bodyPr lIns="0" tIns="0" rIns="0" bIns="0" rtlCol="0" anchor="t">
            <a:spAutoFit/>
          </a:bodyPr>
          <a:lstStyle/>
          <a:p>
            <a:pPr marL="760095" lvl="1" indent="-380048" algn="l">
              <a:lnSpc>
                <a:spcPts val="4745"/>
              </a:lnSpc>
              <a:buFont typeface="Arial"/>
              <a:buChar char="•"/>
            </a:pPr>
            <a:r>
              <a:rPr lang="en-US" sz="4200">
                <a:solidFill>
                  <a:srgbClr val="000000"/>
                </a:solidFill>
                <a:latin typeface="Times New Roman"/>
                <a:ea typeface="Times New Roman"/>
                <a:cs typeface="Times New Roman"/>
                <a:sym typeface="Times New Roman"/>
              </a:rPr>
              <a:t>To develop a secure AI model watermarking system that embeds cryptographic watermarks into AI/ML models for verifiable ownership and intellectual property protection.</a:t>
            </a:r>
          </a:p>
          <a:p>
            <a:pPr marL="760095" lvl="1" indent="-380048" algn="l">
              <a:lnSpc>
                <a:spcPts val="4745"/>
              </a:lnSpc>
              <a:buFont typeface="Arial"/>
              <a:buChar char="•"/>
            </a:pPr>
            <a:r>
              <a:rPr lang="en-US" sz="4200">
                <a:solidFill>
                  <a:srgbClr val="000000"/>
                </a:solidFill>
                <a:latin typeface="Times New Roman"/>
                <a:ea typeface="Times New Roman"/>
                <a:cs typeface="Times New Roman"/>
                <a:sym typeface="Times New Roman"/>
              </a:rPr>
              <a:t>To implement a privacy-preserving ownership verification mechanism using Zero-Knowledge Proof (ZKP), enabling authentication without revealing the embedded watermark.</a:t>
            </a:r>
          </a:p>
          <a:p>
            <a:pPr marL="760095" lvl="1" indent="-380048" algn="l">
              <a:lnSpc>
                <a:spcPts val="4745"/>
              </a:lnSpc>
              <a:buFont typeface="Arial"/>
              <a:buChar char="•"/>
            </a:pPr>
            <a:r>
              <a:rPr lang="en-US" sz="4200">
                <a:solidFill>
                  <a:srgbClr val="000000"/>
                </a:solidFill>
                <a:latin typeface="Times New Roman"/>
                <a:ea typeface="Times New Roman"/>
                <a:cs typeface="Times New Roman"/>
                <a:sym typeface="Times New Roman"/>
              </a:rPr>
              <a:t>To evaluate the robustness of the embedded watermark against model modification attacks such as fine-tuning, pruning, quantization, compression, and model extraction while maintaining model performance.</a:t>
            </a:r>
          </a:p>
        </p:txBody>
      </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13025"/>
            </a:xfrm>
            <a:prstGeom prst="rect">
              <a:avLst/>
            </a:prstGeom>
          </p:spPr>
          <p:txBody>
            <a:bodyPr lIns="0" tIns="0" rIns="0" bIns="0" rtlCol="0" anchor="ctr"/>
            <a:lstStyle/>
            <a:p>
              <a:pPr algn="l">
                <a:lnSpc>
                  <a:spcPts val="7128"/>
                </a:lnSpc>
              </a:pPr>
              <a:r>
                <a:rPr lang="en-US" sz="6600" b="1">
                  <a:solidFill>
                    <a:srgbClr val="002060"/>
                  </a:solidFill>
                  <a:latin typeface="Times New Roman Bold"/>
                  <a:ea typeface="Times New Roman Bold"/>
                  <a:cs typeface="Times New Roman Bold"/>
                  <a:sym typeface="Times New Roman Bold"/>
                </a:rPr>
                <a:t>Problem Statement</a:t>
              </a:r>
              <a:r>
                <a:rPr lang="en-US" sz="6600">
                  <a:solidFill>
                    <a:srgbClr val="002060"/>
                  </a:solidFill>
                  <a:latin typeface="Times New Roman"/>
                  <a:ea typeface="Times New Roman"/>
                  <a:cs typeface="Times New Roman"/>
                  <a:sym typeface="Times New Roman"/>
                </a:rPr>
                <a:t> </a:t>
              </a:r>
            </a:p>
          </p:txBody>
        </p:sp>
      </p:grpSp>
      <p:sp>
        <p:nvSpPr>
          <p:cNvPr id="5" name="TextBox 5"/>
          <p:cNvSpPr txBox="1"/>
          <p:nvPr/>
        </p:nvSpPr>
        <p:spPr>
          <a:xfrm>
            <a:off x="1348740" y="2746058"/>
            <a:ext cx="15590520" cy="2006346"/>
          </a:xfrm>
          <a:prstGeom prst="rect">
            <a:avLst/>
          </a:prstGeom>
        </p:spPr>
        <p:txBody>
          <a:bodyPr lIns="0" tIns="0" rIns="0" bIns="0" rtlCol="0" anchor="t">
            <a:spAutoFit/>
          </a:bodyPr>
          <a:lstStyle/>
          <a:p>
            <a:pPr algn="l">
              <a:lnSpc>
                <a:spcPts val="5292"/>
              </a:lnSpc>
            </a:pPr>
            <a:r>
              <a:rPr lang="en-US" sz="4200">
                <a:solidFill>
                  <a:srgbClr val="000000"/>
                </a:solidFill>
                <a:latin typeface="Times New Roman"/>
                <a:ea typeface="Times New Roman"/>
                <a:cs typeface="Times New Roman"/>
                <a:sym typeface="Times New Roman"/>
              </a:rPr>
              <a:t>To develop a secure and robust AI model watermarking system that enables verifiable ownership authentication while protecting AI models against theft, tampering, and unauthorized use.</a:t>
            </a:r>
          </a:p>
        </p:txBody>
      </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Research gap card"/>
          <p:cNvSpPr/>
          <p:nvPr/>
        </p:nvSpPr>
        <p:spPr>
          <a:xfrm>
            <a:off x="1353312" y="5074920"/>
            <a:ext cx="15581376" cy="333756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earch gap text"/>
          <p:cNvSpPr txBox="1"/>
          <p:nvPr/>
        </p:nvSpPr>
        <p:spPr>
          <a:xfrm>
            <a:off x="1737360" y="5303520"/>
            <a:ext cx="14813280" cy="3017520"/>
          </a:xfrm>
          <a:prstGeom prst="rect">
            <a:avLst/>
          </a:prstGeom>
          <a:noFill/>
        </p:spPr>
        <p:txBody>
          <a:bodyPr wrap="square" lIns="0" rIns="0" tIns="0" bIns="0" anchor="t">
            <a:spAutoFit/>
          </a:bodyPr>
          <a:lstStyle/>
          <a:p>
            <a:pPr algn="l">
              <a:spcAft>
                <a:spcPts val="600"/>
              </a:spcAft>
            </a:pPr>
            <a:r>
              <a:rPr sz="3200" b="1" i="0">
                <a:solidFill>
                  <a:srgbClr val="002060"/>
                </a:solidFill>
                <a:latin typeface="Times New Roman"/>
              </a:rPr>
              <a:t>Research gap and our approach</a:t>
            </a:r>
          </a:p>
          <a:p>
            <a:pPr algn="l" marL="384048" indent="-384048">
              <a:spcAft>
                <a:spcPts val="800"/>
              </a:spcAft>
              <a:buFont typeface="Arial"/>
              <a:buChar char="•"/>
            </a:pPr>
            <a:r>
              <a:rPr sz="2500" b="0" i="0">
                <a:solidFill>
                  <a:srgbClr val="000000"/>
                </a:solidFill>
                <a:latin typeface="Calibri"/>
              </a:rPr>
              <a:t>Zero-knowledge ownership proofs such as ZKROWNN (DAC 2023) let the prover choose the watermark key, so a thief can forge a valid proof.</a:t>
            </a:r>
          </a:p>
          <a:p>
            <a:pPr algn="l" marL="384048" indent="-384048">
              <a:spcAft>
                <a:spcPts val="800"/>
              </a:spcAft>
              <a:buFont typeface="Arial"/>
              <a:buChar char="•"/>
            </a:pPr>
            <a:r>
              <a:rPr sz="2500" b="0" i="0">
                <a:solidFill>
                  <a:srgbClr val="000000"/>
                </a:solidFill>
                <a:latin typeface="Calibri"/>
              </a:rPr>
              <a:t>White-box marks are erased by channel permutation and by model extraction (SoK, IEEE S&amp;P 2022).</a:t>
            </a:r>
          </a:p>
          <a:p>
            <a:pPr algn="l" marL="384048" indent="-384048">
              <a:spcAft>
                <a:spcPts val="0"/>
              </a:spcAft>
              <a:buFont typeface="Arial"/>
              <a:buChar char="•"/>
            </a:pPr>
            <a:r>
              <a:rPr sz="2500" b="1" i="0">
                <a:solidFill>
                  <a:srgbClr val="002060"/>
                </a:solidFill>
                <a:latin typeface="Calibri"/>
              </a:rPr>
              <a:t>Our approach: </a:t>
            </a:r>
            <a:r>
              <a:rPr sz="2500" b="0" i="0">
                <a:solidFill>
                  <a:srgbClr val="000000"/>
                </a:solidFill>
                <a:latin typeface="Calibri"/>
              </a:rPr>
              <a:t>commit to a secret seed before release; the zero-knowledge circuit derives the key and signature from it, so a key can't be invented later.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135731"/>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Literature Review </a:t>
              </a:r>
            </a:p>
          </p:txBody>
        </p:sp>
      </p:grpSp>
      <p:graphicFrame>
        <p:nvGraphicFramePr>
          <p:cNvPr id="5" name="Table 5"/>
          <p:cNvGraphicFramePr>
            <a:graphicFrameLocks noGrp="1"/>
          </p:cNvGraphicFramePr>
          <p:nvPr/>
        </p:nvGraphicFramePr>
        <p:xfrm>
          <a:off x="1285875" y="1587137"/>
          <a:ext cx="15718536" cy="5989320"/>
        </p:xfrm>
        <a:graphic>
          <a:graphicData uri="http://schemas.openxmlformats.org/drawingml/2006/table">
            <a:tbl>
              <a:tblPr/>
              <a:tblGrid>
                <a:gridCol w="1005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3511296">
                  <a:extLst>
                    <a:ext uri="{9D8B030D-6E8A-4147-A177-3AD203B41FA5}">
                      <a16:colId xmlns:a16="http://schemas.microsoft.com/office/drawing/2014/main" val="20004"/>
                    </a:ext>
                  </a:extLst>
                </a:gridCol>
              </a:tblGrid>
              <a:tr h="502920">
                <a:tc>
                  <a:txBody>
                    <a:bodyPr/>
                    <a:lstStyle/>
                    <a:p>
                      <a:pPr algn="ctr">
                        <a:lnSpc>
                          <a:spcPts val="3240"/>
                        </a:lnSpc>
                        <a:defRPr/>
                      </a:pPr>
                      <a:r>
                        <a:rPr lang="en-US" sz="2700" b="1">
                          <a:solidFill>
                            <a:srgbClr val="FFFFFF"/>
                          </a:solidFill>
                          <a:latin typeface="Calibri (MS) Bold"/>
                          <a:ea typeface="Calibri (MS) Bold"/>
                          <a:cs typeface="Calibri (MS) Bold"/>
                          <a:sym typeface="Calibri (MS) Bold"/>
                        </a:rPr>
                        <a:t>Year</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b="1">
                          <a:solidFill>
                            <a:srgbClr val="FFFFFF"/>
                          </a:solidFill>
                          <a:latin typeface="Calibri (MS) Bold"/>
                          <a:ea typeface="Calibri (MS) Bold"/>
                          <a:cs typeface="Calibri (MS) Bold"/>
                          <a:sym typeface="Calibri (MS) Bold"/>
                        </a:rPr>
                        <a:t>Paper</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b="1">
                          <a:solidFill>
                            <a:srgbClr val="FFFFFF"/>
                          </a:solidFill>
                          <a:latin typeface="Calibri (MS) Bold"/>
                          <a:ea typeface="Calibri (MS) Bold"/>
                          <a:cs typeface="Calibri (MS) Bold"/>
                          <a:sym typeface="Calibri (MS) Bold"/>
                        </a:rPr>
                        <a:t>Methodology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b="1">
                          <a:solidFill>
                            <a:srgbClr val="FFFFFF"/>
                          </a:solidFill>
                          <a:latin typeface="Calibri (MS) Bold"/>
                          <a:ea typeface="Calibri (MS) Bold"/>
                          <a:cs typeface="Calibri (MS) Bold"/>
                          <a:sym typeface="Calibri (MS) Bold"/>
                        </a:rPr>
                        <a:t>Findings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tc>
                  <a:txBody>
                    <a:bodyPr/>
                    <a:lstStyle/>
                    <a:p>
                      <a:pPr algn="ctr">
                        <a:lnSpc>
                          <a:spcPts val="3240"/>
                        </a:lnSpc>
                        <a:defRPr/>
                      </a:pPr>
                      <a:r>
                        <a:rPr lang="en-US" sz="2700" b="1">
                          <a:solidFill>
                            <a:srgbClr val="FFFFFF"/>
                          </a:solidFill>
                          <a:latin typeface="Calibri (MS) Bold"/>
                          <a:ea typeface="Calibri (MS) Bold"/>
                          <a:cs typeface="Calibri (MS) Bold"/>
                          <a:sym typeface="Calibri (MS) Bold"/>
                        </a:rPr>
                        <a:t>Limitations</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548640">
                <a:tc>
                  <a:txBody>
                    <a:bodyPr/>
                    <a:lstStyle/>
                    <a:p>
                      <a:pPr algn="ctr">
                        <a:defRPr/>
                      </a:pPr>
                      <a:r>
                        <a:rPr lang="en-US" sz="1500" dirty="0">
                          <a:solidFill>
                            <a:srgbClr val="000000"/>
                          </a:solidFill>
                          <a:latin typeface="Times New Roman"/>
                          <a:ea typeface="Times New Roman"/>
                          <a:cs typeface="Times New Roman"/>
                          <a:sym typeface="Times New Roman"/>
                        </a:rPr>
                        <a:t>2017</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Uchida et al., Embedding Watermarks into DNNs [1]</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Regulariser writes bits into one layer's weights</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Survives fine-tuning and 65% pruning</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Erased by channel permutation; no ownership proof</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548640">
                <a:tc>
                  <a:txBody>
                    <a:bodyPr/>
                    <a:lstStyle/>
                    <a:p>
                      <a:pPr algn="ctr">
                        <a:defRPr/>
                      </a:pPr>
                      <a:r>
                        <a:rPr lang="en-US" sz="1500">
                          <a:solidFill>
                            <a:srgbClr val="000000"/>
                          </a:solidFill>
                          <a:latin typeface="Times New Roman"/>
                          <a:ea typeface="Times New Roman"/>
                          <a:cs typeface="Times New Roman"/>
                          <a:sym typeface="Times New Roman"/>
                        </a:rPr>
                        <a:t>2018</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err="1">
                          <a:solidFill>
                            <a:srgbClr val="000000"/>
                          </a:solidFill>
                          <a:latin typeface="Times New Roman"/>
                          <a:ea typeface="Times New Roman"/>
                          <a:cs typeface="Times New Roman"/>
                          <a:sym typeface="Times New Roman"/>
                        </a:rPr>
                        <a:t>Adi et al., Watermarking DNNs by Backdooring [2]</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Trigger set; its commitment is the verification key</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Black-box check; ZK argument sketched</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Efficient ZK proof left open</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548640">
                <a:tc>
                  <a:txBody>
                    <a:bodyPr/>
                    <a:lstStyle/>
                    <a:p>
                      <a:pPr algn="ctr">
                        <a:defRPr/>
                      </a:pPr>
                      <a:r>
                        <a:rPr lang="en-US" sz="1500">
                          <a:solidFill>
                            <a:srgbClr val="000000"/>
                          </a:solidFill>
                          <a:latin typeface="Times New Roman"/>
                          <a:ea typeface="Times New Roman"/>
                          <a:cs typeface="Times New Roman"/>
                          <a:sym typeface="Times New Roman"/>
                        </a:rPr>
                        <a:t>2018</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dirty="0" err="1">
                          <a:solidFill>
                            <a:srgbClr val="000000"/>
                          </a:solidFill>
                          <a:latin typeface="Times New Roman"/>
                          <a:ea typeface="Times New Roman"/>
                          <a:cs typeface="Times New Roman"/>
                          <a:sym typeface="Times New Roman"/>
                        </a:rPr>
                        <a:t>Rouhani et al., DeepSigns [3]</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Mark in activation-map distributions</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Generic white-box framework</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Key is not committed</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548640">
                <a:tc>
                  <a:txBody>
                    <a:bodyPr/>
                    <a:lstStyle/>
                    <a:p>
                      <a:pPr algn="ctr">
                        <a:defRPr/>
                      </a:pPr>
                      <a:r>
                        <a:rPr lang="en-US" sz="1500">
                          <a:solidFill>
                            <a:srgbClr val="000000"/>
                          </a:solidFill>
                          <a:latin typeface="Times New Roman"/>
                          <a:ea typeface="Times New Roman"/>
                          <a:cs typeface="Times New Roman"/>
                          <a:sym typeface="Times New Roman"/>
                        </a:rPr>
                        <a:t>2019</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Fan et al., Embedding Passports [4]</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Passport layers tied to model accuracy</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Counters forged (ambiguity) claims</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Changes the architecture</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548640">
                <a:tc>
                  <a:txBody>
                    <a:bodyPr/>
                    <a:lstStyle/>
                    <a:p>
                      <a:pPr algn="ctr">
                        <a:defRPr/>
                      </a:pPr>
                      <a:r>
                        <a:rPr lang="en-US" sz="1500">
                          <a:solidFill>
                            <a:srgbClr val="000000"/>
                          </a:solidFill>
                          <a:latin typeface="Times New Roman"/>
                          <a:ea typeface="Times New Roman"/>
                          <a:cs typeface="Times New Roman"/>
                          <a:sym typeface="Times New Roman"/>
                        </a:rPr>
                        <a:t>2019</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dirty="0">
                          <a:solidFill>
                            <a:srgbClr val="000000"/>
                          </a:solidFill>
                          <a:latin typeface="Times New Roman"/>
                          <a:ea typeface="Times New Roman"/>
                          <a:cs typeface="Times New Roman"/>
                          <a:sym typeface="Times New Roman"/>
                        </a:rPr>
                        <a:t>Li et al., Piracy Resistant Watermarks [5]</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dirty="0">
                          <a:solidFill>
                            <a:srgbClr val="000000"/>
                          </a:solidFill>
                          <a:latin typeface="Times New Roman"/>
                          <a:ea typeface="Times New Roman"/>
                          <a:cs typeface="Times New Roman"/>
                          <a:sym typeface="Times New Roman"/>
                        </a:rPr>
                        <a:t>RSA-signed owner ID and timestamp, hashed into the mark</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Resists a second, pirate watermark</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Signature shown to an authority; no ZK</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extLst>
                  <a:ext uri="{0D108BD9-81ED-4DB2-BD59-A6C34878D82A}">
                    <a16:rowId xmlns:a16="http://schemas.microsoft.com/office/drawing/2014/main" val="10005"/>
                  </a:ext>
                </a:extLst>
              </a:tr>
              <a:tr h="548640">
                <a:tc>
                  <a:txBody>
                    <a:bodyPr/>
                    <a:lstStyle/>
                    <a:p>
                      <a:pPr algn="ctr">
                        <a:defRPr/>
                      </a:pPr>
                      <a:r>
                        <a:rPr lang="en-US" sz="1500">
                          <a:solidFill>
                            <a:srgbClr val="000000"/>
                          </a:solidFill>
                          <a:latin typeface="Times New Roman"/>
                          <a:ea typeface="Times New Roman"/>
                          <a:cs typeface="Times New Roman"/>
                          <a:sym typeface="Times New Roman"/>
                        </a:rPr>
                        <a:t>2021</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Jia et al., Entangled Watermarks [6]</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Mark entangled with task features</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Survives model extraction</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Black-box only; up to 0.81 pp accuracy cost</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548640">
                <a:tc>
                  <a:txBody>
                    <a:bodyPr/>
                    <a:lstStyle/>
                    <a:p>
                      <a:pPr algn="ctr">
                        <a:defRPr/>
                      </a:pPr>
                      <a:r>
                        <a:rPr lang="en-US" sz="1500">
                          <a:solidFill>
                            <a:srgbClr val="000000"/>
                          </a:solidFill>
                          <a:latin typeface="Times New Roman"/>
                          <a:ea typeface="Times New Roman"/>
                          <a:cs typeface="Times New Roman"/>
                          <a:sym typeface="Times New Roman"/>
                        </a:rPr>
                        <a:t>2022</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Lukas et al., SoK: DNN Watermark Robustness [7]</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dirty="0">
                          <a:solidFill>
                            <a:srgbClr val="000000"/>
                          </a:solidFill>
                          <a:latin typeface="Times New Roman"/>
                          <a:ea typeface="Times New Roman"/>
                          <a:cs typeface="Times New Roman"/>
                          <a:sym typeface="Times New Roman"/>
                        </a:rPr>
                        <a:t>11 schemes against removal attacks</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None robust in practice</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tc>
                  <a:txBody>
                    <a:bodyPr/>
                    <a:lstStyle/>
                    <a:p>
                      <a:pPr algn="l">
                        <a:defRPr/>
                      </a:pPr>
                      <a:r>
                        <a:rPr lang="en-US" sz="1500">
                          <a:solidFill>
                            <a:srgbClr val="000000"/>
                          </a:solidFill>
                          <a:latin typeface="Times New Roman"/>
                          <a:ea typeface="Times New Roman"/>
                          <a:cs typeface="Times New Roman"/>
                          <a:sym typeface="Times New Roman"/>
                        </a:rPr>
                        <a:t>Evaluation only</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FD5EA"/>
                    </a:solidFill>
                  </a:tcPr>
                </a:tc>
                <a:extLst>
                  <a:ext uri="{0D108BD9-81ED-4DB2-BD59-A6C34878D82A}">
                    <a16:rowId xmlns:a16="http://schemas.microsoft.com/office/drawing/2014/main" val="10007"/>
                  </a:ext>
                </a:extLst>
              </a:tr>
              <a:tr h="548640">
                <a:tc>
                  <a:txBody>
                    <a:bodyPr/>
                    <a:lstStyle/>
                    <a:p>
                      <a:pPr algn="ctr">
                        <a:defRPr/>
                      </a:pPr>
                      <a:r>
                        <a:rPr lang="en-US" sz="1500">
                          <a:solidFill>
                            <a:srgbClr val="000000"/>
                          </a:solidFill>
                          <a:latin typeface="Times New Roman"/>
                          <a:ea typeface="Times New Roman"/>
                          <a:cs typeface="Times New Roman"/>
                          <a:sym typeface="Times New Roman"/>
                        </a:rPr>
                        <a:t>2023</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Sheybani et al., ZKROWNN [8]</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err="1">
                          <a:solidFill>
                            <a:srgbClr val="000000"/>
                          </a:solidFill>
                          <a:latin typeface="Times New Roman"/>
                          <a:ea typeface="Times New Roman"/>
                          <a:cs typeface="Times New Roman"/>
                          <a:sym typeface="Times New Roman"/>
                        </a:rPr>
                        <a:t>zk-SNARK proof of watermark extraction</a:t>
                      </a:r>
                      <a:r>
                        <a:rPr lang="en-US" sz="1800" dirty="0">
                          <a:solidFill>
                            <a:srgbClr val="000000"/>
                          </a:solidFill>
                          <a:latin typeface="Times New Roman"/>
                          <a:ea typeface="Times New Roman"/>
                          <a:cs typeface="Times New Roman"/>
                          <a:sym typeface="Times New Roman"/>
                        </a:rPr>
                        <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Ownership without revealing the key</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Key uncommitted, so proofs can be forged</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548640">
                <a:tc>
                  <a:txBody>
                    <a:bodyPr/>
                    <a:lstStyle/>
                    <a:p>
                      <a:pPr algn="ctr">
                        <a:defRPr/>
                      </a:pPr>
                      <a:r>
                        <a:rPr lang="en-US" sz="1500">
                          <a:solidFill>
                            <a:srgbClr val="000000"/>
                          </a:solidFill>
                          <a:latin typeface="Times New Roman"/>
                          <a:ea typeface="Times New Roman"/>
                          <a:cs typeface="Times New Roman"/>
                          <a:sym typeface="Times New Roman"/>
                        </a:rPr>
                        <a:t>2023</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Yang et al., FedZKP [9]</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Hash of a public instance as the mark; ZK proof of the secret</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Ownership in federated learning</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Mark checked in the clear</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548640">
                <a:tc>
                  <a:txBody>
                    <a:bodyPr/>
                    <a:lstStyle/>
                    <a:p>
                      <a:pPr algn="ctr">
                        <a:defRPr/>
                      </a:pPr>
                      <a:r>
                        <a:rPr lang="en-US" sz="1500">
                          <a:solidFill>
                            <a:srgbClr val="000000"/>
                          </a:solidFill>
                          <a:latin typeface="Times New Roman"/>
                          <a:ea typeface="Times New Roman"/>
                          <a:cs typeface="Times New Roman"/>
                          <a:sym typeface="Times New Roman"/>
                        </a:rPr>
                        <a:t>2026</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Yao et al., NeuralMark [10]</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a:solidFill>
                            <a:srgbClr val="000000"/>
                          </a:solidFill>
                          <a:latin typeface="Times New Roman"/>
                          <a:ea typeface="Times New Roman"/>
                          <a:cs typeface="Times New Roman"/>
                          <a:sym typeface="Times New Roman"/>
                        </a:rPr>
                        <a:t>Mark is the hash of a secret key</a:t>
                      </a:r>
                      <a:endParaRPr lang="en-US" sz="110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Blocks forging and overwriting</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tc>
                  <a:txBody>
                    <a:bodyPr/>
                    <a:lstStyle/>
                    <a:p>
                      <a:pPr algn="l">
                        <a:defRPr/>
                      </a:pPr>
                      <a:r>
                        <a:rPr lang="en-US" sz="1500" dirty="0">
                          <a:solidFill>
                            <a:srgbClr val="000000"/>
                          </a:solidFill>
                          <a:latin typeface="Times New Roman"/>
                          <a:ea typeface="Times New Roman"/>
                          <a:cs typeface="Times New Roman"/>
                          <a:sym typeface="Times New Roman"/>
                        </a:rPr>
                        <a:t>Key given to a trusted verifier; no ZK</a:t>
                      </a:r>
                      <a:endParaRPr lang="en-US" sz="1100" dirty="0"/>
                    </a:p>
                  </a:txBody>
                  <a:tcPr marT="27432" marB="27432"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5"/>
            <a:chOff x="0" y="0"/>
            <a:chExt cx="21031200" cy="2651126"/>
          </a:xfrm>
        </p:grpSpPr>
        <p:sp>
          <p:nvSpPr>
            <p:cNvPr id="3" name="Freeform 3"/>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6"/>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Proposed Framework</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Stack"/>
          <p:cNvSpPr txBox="1"/>
          <p:nvPr/>
        </p:nvSpPr>
        <p:spPr>
          <a:xfrm>
            <a:off x="1348740" y="2331720"/>
            <a:ext cx="15590520" cy="6126480"/>
          </a:xfrm>
          <a:prstGeom prst="rect">
            <a:avLst/>
          </a:prstGeom>
          <a:noFill/>
        </p:spPr>
        <p:txBody>
          <a:bodyPr wrap="square" lIns="0" rIns="0" tIns="0" bIns="0" anchor="t">
            <a:spAutoFit/>
          </a:bodyPr>
          <a:lstStyle/>
          <a:p>
            <a:pPr algn="l">
              <a:spcAft>
                <a:spcPts val="1400"/>
              </a:spcAft>
            </a:pPr>
            <a:r>
              <a:rPr sz="3200" b="1" i="0">
                <a:solidFill>
                  <a:srgbClr val="000000"/>
                </a:solidFill>
                <a:latin typeface="Calibri"/>
              </a:rPr>
              <a:t>Programming Languages: </a:t>
            </a:r>
            <a:r>
              <a:rPr sz="3200" b="0" i="0">
                <a:solidFill>
                  <a:srgbClr val="000000"/>
                </a:solidFill>
                <a:latin typeface="Calibri"/>
              </a:rPr>
              <a:t>Python, TypeScript, Circom, Solidity</a:t>
            </a:r>
          </a:p>
          <a:p>
            <a:pPr algn="l">
              <a:spcAft>
                <a:spcPts val="1400"/>
              </a:spcAft>
            </a:pPr>
            <a:r>
              <a:rPr sz="3200" b="1" i="0">
                <a:solidFill>
                  <a:srgbClr val="000000"/>
                </a:solidFill>
                <a:latin typeface="Calibri"/>
              </a:rPr>
              <a:t>AI / Machine Learning: </a:t>
            </a:r>
            <a:r>
              <a:rPr sz="3200" b="0" i="0">
                <a:solidFill>
                  <a:srgbClr val="000000"/>
                </a:solidFill>
                <a:latin typeface="Calibri"/>
              </a:rPr>
              <a:t>PyTorch, TensorFlow / Keras, ONNX, NumPy, scikit-learn</a:t>
            </a:r>
          </a:p>
          <a:p>
            <a:pPr algn="l">
              <a:spcAft>
                <a:spcPts val="1400"/>
              </a:spcAft>
            </a:pPr>
            <a:r>
              <a:rPr sz="3200" b="1" i="0">
                <a:solidFill>
                  <a:srgbClr val="000000"/>
                </a:solidFill>
                <a:latin typeface="Calibri"/>
              </a:rPr>
              <a:t>Cryptography &amp; Security: </a:t>
            </a:r>
            <a:r>
              <a:rPr sz="3200" b="0" i="0">
                <a:solidFill>
                  <a:srgbClr val="000000"/>
                </a:solidFill>
                <a:latin typeface="Calibri"/>
              </a:rPr>
              <a:t>SHA-256, Poseidon hash, Ed25519 (ECC) signatures, Circom + SnarkJS (Groth16 zk-SNARK)</a:t>
            </a:r>
          </a:p>
          <a:p>
            <a:pPr algn="l">
              <a:spcAft>
                <a:spcPts val="1400"/>
              </a:spcAft>
            </a:pPr>
            <a:r>
              <a:rPr sz="3200" b="1" i="0">
                <a:solidFill>
                  <a:srgbClr val="000000"/>
                </a:solidFill>
                <a:latin typeface="Calibri"/>
              </a:rPr>
              <a:t>Web Development: </a:t>
            </a:r>
            <a:r>
              <a:rPr sz="3200" b="0" i="0">
                <a:solidFill>
                  <a:srgbClr val="000000"/>
                </a:solidFill>
                <a:latin typeface="Calibri"/>
              </a:rPr>
              <a:t>React + TypeScript (Vite), FastAPI, a local Python demo server</a:t>
            </a:r>
          </a:p>
          <a:p>
            <a:pPr algn="l">
              <a:spcAft>
                <a:spcPts val="1400"/>
              </a:spcAft>
            </a:pPr>
            <a:r>
              <a:rPr sz="3200" b="1" i="0">
                <a:solidFill>
                  <a:srgbClr val="000000"/>
                </a:solidFill>
                <a:latin typeface="Calibri"/>
              </a:rPr>
              <a:t>Database &amp; Storage: </a:t>
            </a:r>
            <a:r>
              <a:rPr sz="3200" b="0" i="0">
                <a:solidFill>
                  <a:srgbClr val="000000"/>
                </a:solidFill>
                <a:latin typeface="Calibri"/>
              </a:rPr>
              <a:t>PostgreSQL 16 (SQLAlchemy, Alembic)</a:t>
            </a:r>
          </a:p>
          <a:p>
            <a:pPr algn="l">
              <a:spcAft>
                <a:spcPts val="1400"/>
              </a:spcAft>
            </a:pPr>
            <a:r>
              <a:rPr sz="3200" b="1" i="0">
                <a:solidFill>
                  <a:srgbClr val="000000"/>
                </a:solidFill>
                <a:latin typeface="Calibri"/>
              </a:rPr>
              <a:t>Development Tools: </a:t>
            </a:r>
            <a:r>
              <a:rPr sz="3200" b="0" i="0">
                <a:solidFill>
                  <a:srgbClr val="000000"/>
                </a:solidFill>
                <a:latin typeface="Calibri"/>
              </a:rPr>
              <a:t>Visual Studio Code, Jupyter Notebook, Git &amp; GitHub Actions, Hardhat (local blockchain)</a:t>
            </a:r>
          </a:p>
          <a:p>
            <a:pPr algn="l">
              <a:spcAft>
                <a:spcPts val="1400"/>
              </a:spcAft>
            </a:pPr>
            <a:r>
              <a:rPr sz="3200" b="1" i="0">
                <a:solidFill>
                  <a:srgbClr val="000000"/>
                </a:solidFill>
                <a:latin typeface="Calibri"/>
              </a:rPr>
              <a:t>Model Formats: </a:t>
            </a:r>
            <a:r>
              <a:rPr sz="3200" b="0" i="0">
                <a:solidFill>
                  <a:srgbClr val="000000"/>
                </a:solidFill>
                <a:latin typeface="Calibri"/>
              </a:rPr>
              <a:t>.pt, .h5 / .keras, .onnx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3" name="TextBox 3"/>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4" name="Group 4"/>
          <p:cNvGrpSpPr/>
          <p:nvPr/>
        </p:nvGrpSpPr>
        <p:grpSpPr>
          <a:xfrm>
            <a:off x="2684897" y="8859650"/>
            <a:ext cx="1516942" cy="1227811"/>
            <a:chOff x="0" y="0"/>
            <a:chExt cx="2022589" cy="1637081"/>
          </a:xfrm>
        </p:grpSpPr>
        <p:sp>
          <p:nvSpPr>
            <p:cNvPr id="5" name="Freeform 5"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2"/>
              <a:stretch>
                <a:fillRect b="-23003"/>
              </a:stretch>
            </a:blipFill>
          </p:spPr>
          <p:txBody>
            <a:bodyPr/>
            <a:lstStyle/>
            <a:p>
              <a:endParaRPr lang="en-US"/>
            </a:p>
          </p:txBody>
        </p:sp>
      </p:grpSp>
      <p:sp>
        <p:nvSpPr>
          <p:cNvPr id="6" name="Freeform 6"/>
          <p:cNvSpPr/>
          <p:nvPr/>
        </p:nvSpPr>
        <p:spPr>
          <a:xfrm>
            <a:off x="3233658" y="369786"/>
            <a:ext cx="11820683" cy="7880455"/>
          </a:xfrm>
          <a:custGeom>
            <a:avLst/>
            <a:gdLst/>
            <a:ahLst/>
            <a:cxnLst/>
            <a:rect l="l" t="t" r="r" b="b"/>
            <a:pathLst>
              <a:path w="11820683" h="7880455">
                <a:moveTo>
                  <a:pt x="0" y="0"/>
                </a:moveTo>
                <a:lnTo>
                  <a:pt x="11820684" y="0"/>
                </a:lnTo>
                <a:lnTo>
                  <a:pt x="11820684" y="7880455"/>
                </a:lnTo>
                <a:lnTo>
                  <a:pt x="0" y="7880455"/>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System Workflow</a:t>
              </a:r>
              <a:r>
                <a:rPr lang="en-US" sz="6600">
                  <a:solidFill>
                    <a:srgbClr val="073763"/>
                  </a:solidFill>
                  <a:latin typeface="Times New Roman"/>
                  <a:ea typeface="Times New Roman"/>
                  <a:cs typeface="Times New Roman"/>
                  <a:sym typeface="Times New Roman"/>
                </a:rPr>
                <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Step 1 card"/>
          <p:cNvSpPr/>
          <p:nvPr/>
        </p:nvSpPr>
        <p:spPr>
          <a:xfrm>
            <a:off x="1353312" y="2468880"/>
            <a:ext cx="2743200" cy="388620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1 number"/>
          <p:cNvSpPr/>
          <p:nvPr/>
        </p:nvSpPr>
        <p:spPr>
          <a:xfrm>
            <a:off x="1627632" y="2743200"/>
            <a:ext cx="640080" cy="6400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2600" b="1" i="0">
                <a:solidFill>
                  <a:srgbClr val="FFFFFF"/>
                </a:solidFill>
                <a:latin typeface="Times New Roman"/>
              </a:rPr>
              <a:t>1</a:t>
            </a:r>
          </a:p>
        </p:txBody>
      </p:sp>
      <p:sp>
        <p:nvSpPr>
          <p:cNvPr id="12" name="Step 1 text"/>
          <p:cNvSpPr txBox="1"/>
          <p:nvPr/>
        </p:nvSpPr>
        <p:spPr>
          <a:xfrm>
            <a:off x="1627632" y="3566160"/>
            <a:ext cx="2240280" cy="265176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Create identity</a:t>
            </a:r>
          </a:p>
          <a:p>
            <a:pPr algn="l">
              <a:spcAft>
                <a:spcPts val="0"/>
              </a:spcAft>
            </a:pPr>
            <a:r>
              <a:rPr sz="2200" b="0" i="0">
                <a:solidFill>
                  <a:srgbClr val="000000"/>
                </a:solidFill>
                <a:latin typeface="Calibri"/>
              </a:rPr>
              <a:t>Owner makes an Ed25519 key pair and a secret seed; both stay encrypted.</a:t>
            </a:r>
          </a:p>
        </p:txBody>
      </p:sp>
      <p:sp>
        <p:nvSpPr>
          <p:cNvPr id="13" name="Arrow 1"/>
          <p:cNvSpPr/>
          <p:nvPr/>
        </p:nvSpPr>
        <p:spPr>
          <a:xfrm>
            <a:off x="4178808" y="4206240"/>
            <a:ext cx="301752" cy="41148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2 card"/>
          <p:cNvSpPr/>
          <p:nvPr/>
        </p:nvSpPr>
        <p:spPr>
          <a:xfrm>
            <a:off x="4562856" y="2468880"/>
            <a:ext cx="2743200" cy="388620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2 number"/>
          <p:cNvSpPr/>
          <p:nvPr/>
        </p:nvSpPr>
        <p:spPr>
          <a:xfrm>
            <a:off x="4837176" y="2743200"/>
            <a:ext cx="640080" cy="6400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2600" b="1" i="0">
                <a:solidFill>
                  <a:srgbClr val="FFFFFF"/>
                </a:solidFill>
                <a:latin typeface="Times New Roman"/>
              </a:rPr>
              <a:t>2</a:t>
            </a:r>
          </a:p>
        </p:txBody>
      </p:sp>
      <p:sp>
        <p:nvSpPr>
          <p:cNvPr id="16" name="Step 2 text"/>
          <p:cNvSpPr txBox="1"/>
          <p:nvPr/>
        </p:nvSpPr>
        <p:spPr>
          <a:xfrm>
            <a:off x="4837176" y="3566160"/>
            <a:ext cx="2240280" cy="265176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Embed</a:t>
            </a:r>
          </a:p>
          <a:p>
            <a:pPr algn="l">
              <a:spcAft>
                <a:spcPts val="0"/>
              </a:spcAft>
            </a:pPr>
            <a:r>
              <a:rPr sz="2200" b="0" i="0">
                <a:solidFill>
                  <a:srgbClr val="000000"/>
                </a:solidFill>
                <a:latin typeface="Calibri"/>
              </a:rPr>
              <a:t>A key and a 64-bit signature derived from the seed are trained into one layer.</a:t>
            </a:r>
          </a:p>
        </p:txBody>
      </p:sp>
      <p:sp>
        <p:nvSpPr>
          <p:cNvPr id="17" name="Arrow 2"/>
          <p:cNvSpPr/>
          <p:nvPr/>
        </p:nvSpPr>
        <p:spPr>
          <a:xfrm>
            <a:off x="7388352" y="4206240"/>
            <a:ext cx="301752" cy="41148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3 card"/>
          <p:cNvSpPr/>
          <p:nvPr/>
        </p:nvSpPr>
        <p:spPr>
          <a:xfrm>
            <a:off x="7772400" y="2468880"/>
            <a:ext cx="2743200" cy="388620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 3 number"/>
          <p:cNvSpPr/>
          <p:nvPr/>
        </p:nvSpPr>
        <p:spPr>
          <a:xfrm>
            <a:off x="8046720" y="2743200"/>
            <a:ext cx="640080" cy="6400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2600" b="1" i="0">
                <a:solidFill>
                  <a:srgbClr val="FFFFFF"/>
                </a:solidFill>
                <a:latin typeface="Times New Roman"/>
              </a:rPr>
              <a:t>3</a:t>
            </a:r>
          </a:p>
        </p:txBody>
      </p:sp>
      <p:sp>
        <p:nvSpPr>
          <p:cNvPr id="20" name="Step 3 text"/>
          <p:cNvSpPr txBox="1"/>
          <p:nvPr/>
        </p:nvSpPr>
        <p:spPr>
          <a:xfrm>
            <a:off x="8046720" y="3566160"/>
            <a:ext cx="2240280" cy="265176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Register</a:t>
            </a:r>
          </a:p>
          <a:p>
            <a:pPr algn="l">
              <a:spcAft>
                <a:spcPts val="0"/>
              </a:spcAft>
            </a:pPr>
            <a:r>
              <a:rPr sz="2200" b="0" i="0">
                <a:solidFill>
                  <a:srgbClr val="000000"/>
                </a:solidFill>
                <a:latin typeface="Calibri"/>
              </a:rPr>
              <a:t>Signed record with the seed's commitment and the model hash; a registry timestamps it.</a:t>
            </a:r>
          </a:p>
        </p:txBody>
      </p:sp>
      <p:sp>
        <p:nvSpPr>
          <p:cNvPr id="21" name="Arrow 3"/>
          <p:cNvSpPr/>
          <p:nvPr/>
        </p:nvSpPr>
        <p:spPr>
          <a:xfrm>
            <a:off x="10597896" y="4206240"/>
            <a:ext cx="301752" cy="41148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ep 4 card"/>
          <p:cNvSpPr/>
          <p:nvPr/>
        </p:nvSpPr>
        <p:spPr>
          <a:xfrm>
            <a:off x="10981944" y="2468880"/>
            <a:ext cx="2743200" cy="388620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ep 4 number"/>
          <p:cNvSpPr/>
          <p:nvPr/>
        </p:nvSpPr>
        <p:spPr>
          <a:xfrm>
            <a:off x="11256264" y="2743200"/>
            <a:ext cx="640080" cy="6400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2600" b="1" i="0">
                <a:solidFill>
                  <a:srgbClr val="FFFFFF"/>
                </a:solidFill>
                <a:latin typeface="Times New Roman"/>
              </a:rPr>
              <a:t>4</a:t>
            </a:r>
          </a:p>
        </p:txBody>
      </p:sp>
      <p:sp>
        <p:nvSpPr>
          <p:cNvPr id="24" name="Step 4 text"/>
          <p:cNvSpPr txBox="1"/>
          <p:nvPr/>
        </p:nvSpPr>
        <p:spPr>
          <a:xfrm>
            <a:off x="11256264" y="3566160"/>
            <a:ext cx="2240280" cy="265176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Claim</a:t>
            </a:r>
          </a:p>
          <a:p>
            <a:pPr algn="l">
              <a:spcAft>
                <a:spcPts val="0"/>
              </a:spcAft>
            </a:pPr>
            <a:r>
              <a:rPr sz="2200" b="0" i="0">
                <a:solidFill>
                  <a:srgbClr val="000000"/>
                </a:solidFill>
                <a:latin typeface="Calibri"/>
              </a:rPr>
              <a:t>A verifier opens a claim on a suspect file, with a fresh random nonce.</a:t>
            </a:r>
          </a:p>
        </p:txBody>
      </p:sp>
      <p:sp>
        <p:nvSpPr>
          <p:cNvPr id="25" name="Arrow 4"/>
          <p:cNvSpPr/>
          <p:nvPr/>
        </p:nvSpPr>
        <p:spPr>
          <a:xfrm>
            <a:off x="13807440" y="4206240"/>
            <a:ext cx="301752" cy="41148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ep 5 card"/>
          <p:cNvSpPr/>
          <p:nvPr/>
        </p:nvSpPr>
        <p:spPr>
          <a:xfrm>
            <a:off x="14191488" y="2468880"/>
            <a:ext cx="2743200" cy="388620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ep 5 number"/>
          <p:cNvSpPr/>
          <p:nvPr/>
        </p:nvSpPr>
        <p:spPr>
          <a:xfrm>
            <a:off x="14465808" y="2743200"/>
            <a:ext cx="640080" cy="6400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2600" b="1" i="0">
                <a:solidFill>
                  <a:srgbClr val="FFFFFF"/>
                </a:solidFill>
                <a:latin typeface="Times New Roman"/>
              </a:rPr>
              <a:t>5</a:t>
            </a:r>
          </a:p>
        </p:txBody>
      </p:sp>
      <p:sp>
        <p:nvSpPr>
          <p:cNvPr id="28" name="Step 5 text"/>
          <p:cNvSpPr txBox="1"/>
          <p:nvPr/>
        </p:nvSpPr>
        <p:spPr>
          <a:xfrm>
            <a:off x="14465808" y="3566160"/>
            <a:ext cx="2240280" cy="265176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Prove &amp; verify</a:t>
            </a:r>
          </a:p>
          <a:p>
            <a:pPr algn="l">
              <a:spcAft>
                <a:spcPts val="0"/>
              </a:spcAft>
            </a:pPr>
            <a:r>
              <a:rPr sz="2200" b="0" i="0">
                <a:solidFill>
                  <a:srgbClr val="000000"/>
                </a:solidFill>
                <a:latin typeface="Calibri"/>
              </a:rPr>
              <a:t>Groth16 proof that the committed mark is in this file (at most 8 of 64 bits wrong).</a:t>
            </a:r>
          </a:p>
        </p:txBody>
      </p:sp>
      <p:sp>
        <p:nvSpPr>
          <p:cNvPr id="29" name="Verifier checks"/>
          <p:cNvSpPr txBox="1"/>
          <p:nvPr/>
        </p:nvSpPr>
        <p:spPr>
          <a:xfrm>
            <a:off x="1353312" y="6720840"/>
            <a:ext cx="15581376" cy="1645920"/>
          </a:xfrm>
          <a:prstGeom prst="rect">
            <a:avLst/>
          </a:prstGeom>
          <a:noFill/>
        </p:spPr>
        <p:txBody>
          <a:bodyPr wrap="square" lIns="0" rIns="0" tIns="0" bIns="0" anchor="t">
            <a:spAutoFit/>
          </a:bodyPr>
          <a:lstStyle/>
          <a:p>
            <a:pPr algn="l">
              <a:spcAft>
                <a:spcPts val="0"/>
              </a:spcAft>
            </a:pPr>
            <a:r>
              <a:rPr sz="2600" b="1" i="0">
                <a:solidFill>
                  <a:srgbClr val="002060"/>
                </a:solidFill>
                <a:latin typeface="Times New Roman"/>
              </a:rPr>
              <a:t>The verifier checks: </a:t>
            </a:r>
            <a:r>
              <a:rPr sz="2600" b="0" i="0">
                <a:solidFill>
                  <a:srgbClr val="000000"/>
                </a:solidFill>
                <a:latin typeface="Calibri"/>
              </a:rPr>
              <a:t>the owner's signature, a registry timestamp earlier than the claim, that the claim matches this file, every public signal recomputed from the file itself, and the Groth16 proof (12 checks, each with its own reason).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Results</a:t>
              </a:r>
              <a:r>
                <a:rPr lang="en-US" sz="6600">
                  <a:solidFill>
                    <a:srgbClr val="073763"/>
                  </a:solidFill>
                  <a:latin typeface="Times New Roman"/>
                  <a:ea typeface="Times New Roman"/>
                  <a:cs typeface="Times New Roman"/>
                  <a:sym typeface="Times New Roman"/>
                </a:rPr>
                <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Result 1 card"/>
          <p:cNvSpPr/>
          <p:nvPr/>
        </p:nvSpPr>
        <p:spPr>
          <a:xfrm>
            <a:off x="1353312" y="2377440"/>
            <a:ext cx="4892040" cy="608076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ult 1 text"/>
          <p:cNvSpPr txBox="1"/>
          <p:nvPr/>
        </p:nvSpPr>
        <p:spPr>
          <a:xfrm>
            <a:off x="1673352" y="2606040"/>
            <a:ext cx="4251959" cy="566928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Robustness</a:t>
            </a:r>
          </a:p>
          <a:p>
            <a:pPr algn="l">
              <a:spcAft>
                <a:spcPts val="0"/>
              </a:spcAft>
            </a:pPr>
            <a:r>
              <a:rPr sz="5400" b="1" i="0">
                <a:solidFill>
                  <a:srgbClr val="002060"/>
                </a:solidFill>
                <a:latin typeface="Times New Roman"/>
              </a:rPr>
              <a:t>−0.03 pp</a:t>
            </a:r>
          </a:p>
          <a:p>
            <a:pPr algn="l">
              <a:spcAft>
                <a:spcPts val="1400"/>
              </a:spcAft>
            </a:pPr>
            <a:r>
              <a:rPr sz="2000" b="0" i="0">
                <a:solidFill>
                  <a:srgbClr val="404040"/>
                </a:solidFill>
                <a:latin typeface="Calibri"/>
              </a:rPr>
              <a:t>accuracy cost of the 64-bit mark</a:t>
            </a:r>
          </a:p>
          <a:p>
            <a:pPr algn="l" marL="384048" indent="-384048">
              <a:spcAft>
                <a:spcPts val="1200"/>
              </a:spcAft>
              <a:buFont typeface="Arial"/>
              <a:buChar char="•"/>
            </a:pPr>
            <a:r>
              <a:rPr sz="2300" b="0" i="0">
                <a:solidFill>
                  <a:srgbClr val="000000"/>
                </a:solidFill>
                <a:latin typeface="Calibri"/>
              </a:rPr>
              <a:t>Survives 90% pruning, 4-bit quantisation, fine-tuning and a thief's overwrite</a:t>
            </a:r>
          </a:p>
          <a:p>
            <a:pPr algn="l" marL="384048" indent="-384048">
              <a:spcAft>
                <a:spcPts val="1200"/>
              </a:spcAft>
              <a:buFont typeface="Arial"/>
              <a:buChar char="•"/>
            </a:pPr>
            <a:r>
              <a:rPr sz="2300" b="0" i="0">
                <a:solidFill>
                  <a:srgbClr val="000000"/>
                </a:solidFill>
                <a:latin typeface="Calibri"/>
              </a:rPr>
              <a:t>Channel permutation scrambles it; the owner's realignment restores it</a:t>
            </a:r>
          </a:p>
          <a:p>
            <a:pPr algn="l" marL="384048" indent="-384048">
              <a:spcAft>
                <a:spcPts val="1200"/>
              </a:spcAft>
              <a:buFont typeface="Arial"/>
              <a:buChar char="•"/>
            </a:pPr>
            <a:r>
              <a:rPr sz="2300" b="0" i="0">
                <a:solidFill>
                  <a:srgbClr val="000000"/>
                </a:solidFill>
                <a:latin typeface="Calibri"/>
              </a:rPr>
              <a:t>0 of 30 never-marked models accepted (rule: at most 8 of 64 bits wrong)</a:t>
            </a:r>
          </a:p>
        </p:txBody>
      </p:sp>
      <p:sp>
        <p:nvSpPr>
          <p:cNvPr id="12" name="Result 2 card"/>
          <p:cNvSpPr/>
          <p:nvPr/>
        </p:nvSpPr>
        <p:spPr>
          <a:xfrm>
            <a:off x="6697979" y="2377440"/>
            <a:ext cx="4892040" cy="608076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 2 text"/>
          <p:cNvSpPr txBox="1"/>
          <p:nvPr/>
        </p:nvSpPr>
        <p:spPr>
          <a:xfrm>
            <a:off x="7018019" y="2606040"/>
            <a:ext cx="4251959" cy="566928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Forgery and our fix</a:t>
            </a:r>
          </a:p>
          <a:p>
            <a:pPr algn="l">
              <a:spcAft>
                <a:spcPts val="0"/>
              </a:spcAft>
            </a:pPr>
            <a:r>
              <a:rPr sz="5400" b="1" i="0">
                <a:solidFill>
                  <a:srgbClr val="002060"/>
                </a:solidFill>
                <a:latin typeface="Times New Roman"/>
              </a:rPr>
              <a:t>0 / 20,000</a:t>
            </a:r>
          </a:p>
          <a:p>
            <a:pPr algn="l">
              <a:spcAft>
                <a:spcPts val="1400"/>
              </a:spcAft>
            </a:pPr>
            <a:r>
              <a:rPr sz="2000" b="0" i="0">
                <a:solidFill>
                  <a:srgbClr val="404040"/>
                </a:solidFill>
                <a:latin typeface="Calibri"/>
              </a:rPr>
              <a:t>forgeries against the committed seed</a:t>
            </a:r>
          </a:p>
          <a:p>
            <a:pPr algn="l" marL="384048" indent="-384048">
              <a:spcAft>
                <a:spcPts val="1200"/>
              </a:spcAft>
              <a:buFont typeface="Arial"/>
              <a:buChar char="•"/>
            </a:pPr>
            <a:r>
              <a:rPr sz="2300" b="0" i="0">
                <a:solidFill>
                  <a:srgbClr val="000000"/>
                </a:solidFill>
                <a:latin typeface="Calibri"/>
              </a:rPr>
              <a:t>Without a commitment, a thief's fake key reads "MALLORY!" with 0 bits wrong</a:t>
            </a:r>
          </a:p>
          <a:p>
            <a:pPr algn="l" marL="384048" indent="-384048">
              <a:spcAft>
                <a:spcPts val="1200"/>
              </a:spcAft>
              <a:buFont typeface="Arial"/>
              <a:buChar char="•"/>
            </a:pPr>
            <a:r>
              <a:rPr sz="2300" b="0" i="0">
                <a:solidFill>
                  <a:srgbClr val="000000"/>
                </a:solidFill>
                <a:latin typeface="Calibri"/>
              </a:rPr>
              <a:t>With EZKL, the forged proof verifies under the owner's own key</a:t>
            </a:r>
          </a:p>
          <a:p>
            <a:pPr algn="l" marL="384048" indent="-384048">
              <a:spcAft>
                <a:spcPts val="1200"/>
              </a:spcAft>
              <a:buFont typeface="Arial"/>
              <a:buChar char="•"/>
            </a:pPr>
            <a:r>
              <a:rPr sz="2300" b="0" i="0">
                <a:solidFill>
                  <a:srgbClr val="000000"/>
                </a:solidFill>
                <a:latin typeface="Calibri"/>
              </a:rPr>
              <a:t>A thief needs about 2</a:t>
            </a:r>
            <a:r>
              <a:rPr sz="2300" b="0" i="0" baseline="30000">
                <a:solidFill>
                  <a:srgbClr val="000000"/>
                </a:solidFill>
                <a:latin typeface="Calibri"/>
              </a:rPr>
              <a:t>32</a:t>
            </a:r>
            <a:r>
              <a:rPr sz="2300" b="0" i="0">
                <a:solidFill>
                  <a:srgbClr val="000000"/>
                </a:solidFill>
                <a:latin typeface="Calibri"/>
              </a:rPr>
              <a:t> tries at 64 bits, 2</a:t>
            </a:r>
            <a:r>
              <a:rPr sz="2300" b="0" i="0" baseline="30000">
                <a:solidFill>
                  <a:srgbClr val="000000"/>
                </a:solidFill>
                <a:latin typeface="Calibri"/>
              </a:rPr>
              <a:t>120</a:t>
            </a:r>
            <a:r>
              <a:rPr sz="2300" b="0" i="0">
                <a:solidFill>
                  <a:srgbClr val="000000"/>
                </a:solidFill>
                <a:latin typeface="Calibri"/>
              </a:rPr>
              <a:t> at 256 bits</a:t>
            </a:r>
          </a:p>
        </p:txBody>
      </p:sp>
      <p:sp>
        <p:nvSpPr>
          <p:cNvPr id="14" name="Result 3 card"/>
          <p:cNvSpPr/>
          <p:nvPr/>
        </p:nvSpPr>
        <p:spPr>
          <a:xfrm>
            <a:off x="12042648" y="2377440"/>
            <a:ext cx="4892040" cy="6080760"/>
          </a:xfrm>
          <a:prstGeom prst="roundRect">
            <a:avLst>
              <a:gd name="adj" fmla="val 6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 3 text"/>
          <p:cNvSpPr txBox="1"/>
          <p:nvPr/>
        </p:nvSpPr>
        <p:spPr>
          <a:xfrm>
            <a:off x="12362688" y="2606040"/>
            <a:ext cx="4251959" cy="5669280"/>
          </a:xfrm>
          <a:prstGeom prst="rect">
            <a:avLst/>
          </a:prstGeom>
          <a:noFill/>
        </p:spPr>
        <p:txBody>
          <a:bodyPr wrap="square" lIns="0" rIns="0" tIns="0" bIns="0" anchor="t">
            <a:spAutoFit/>
          </a:bodyPr>
          <a:lstStyle/>
          <a:p>
            <a:pPr algn="l">
              <a:spcAft>
                <a:spcPts val="600"/>
              </a:spcAft>
            </a:pPr>
            <a:r>
              <a:rPr sz="2800" b="1" i="0">
                <a:solidFill>
                  <a:srgbClr val="002060"/>
                </a:solidFill>
                <a:latin typeface="Times New Roman"/>
              </a:rPr>
              <a:t>Zero-knowledge proof cost</a:t>
            </a:r>
          </a:p>
          <a:p>
            <a:pPr algn="l">
              <a:spcAft>
                <a:spcPts val="0"/>
              </a:spcAft>
            </a:pPr>
            <a:r>
              <a:rPr sz="5400" b="1" i="0">
                <a:solidFill>
                  <a:srgbClr val="002060"/>
                </a:solidFill>
                <a:latin typeface="Times New Roman"/>
              </a:rPr>
              <a:t>3.9 s</a:t>
            </a:r>
          </a:p>
          <a:p>
            <a:pPr algn="l">
              <a:spcAft>
                <a:spcPts val="1400"/>
              </a:spcAft>
            </a:pPr>
            <a:r>
              <a:rPr sz="2000" b="0" i="0">
                <a:solidFill>
                  <a:srgbClr val="404040"/>
                </a:solidFill>
                <a:latin typeface="Calibri"/>
              </a:rPr>
              <a:t>to prove, 0.41 s to verify (64-bit mark)</a:t>
            </a:r>
          </a:p>
          <a:p>
            <a:pPr algn="l" marL="384048" indent="-384048">
              <a:spcAft>
                <a:spcPts val="1200"/>
              </a:spcAft>
              <a:buFont typeface="Arial"/>
              <a:buChar char="•"/>
            </a:pPr>
            <a:r>
              <a:rPr sz="2300" b="0" i="0">
                <a:solidFill>
                  <a:srgbClr val="000000"/>
                </a:solidFill>
                <a:latin typeface="Calibri"/>
              </a:rPr>
              <a:t>741-byte proof (EZKL: about 61 KB)</a:t>
            </a:r>
          </a:p>
          <a:p>
            <a:pPr algn="l" marL="384048" indent="-384048">
              <a:spcAft>
                <a:spcPts val="1200"/>
              </a:spcAft>
              <a:buFont typeface="Arial"/>
              <a:buChar char="•"/>
            </a:pPr>
            <a:r>
              <a:rPr sz="2300" b="0" i="0">
                <a:solidFill>
                  <a:srgbClr val="000000"/>
                </a:solidFill>
                <a:latin typeface="Calibri"/>
              </a:rPr>
              <a:t>Also verified on-chain, for 243,225 gas</a:t>
            </a:r>
          </a:p>
          <a:p>
            <a:pPr algn="l" marL="384048" indent="-384048">
              <a:spcAft>
                <a:spcPts val="1200"/>
              </a:spcAft>
              <a:buFont typeface="Arial"/>
              <a:buChar char="•"/>
            </a:pPr>
            <a:r>
              <a:rPr sz="2300" b="0" i="0">
                <a:solidFill>
                  <a:srgbClr val="000000"/>
                </a:solidFill>
                <a:latin typeface="Calibri"/>
              </a:rPr>
              <a:t>256-bit mark: 11.6 s to prove, 5.0 GiB peak memory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Working Prototype</a:t>
              </a:r>
              <a:r>
                <a:rPr lang="en-US" sz="6600">
                  <a:solidFill>
                    <a:srgbClr val="073763"/>
                  </a:solidFill>
                  <a:latin typeface="Times New Roman"/>
                  <a:ea typeface="Times New Roman"/>
                  <a:cs typeface="Times New Roman"/>
                  <a:sym typeface="Times New Roman"/>
                </a:rPr>
                <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pic>
        <p:nvPicPr>
          <p:cNvPr id="10" name="Screenshot 1" descr="overview.jpg"/>
          <p:cNvPicPr>
            <a:picLocks noChangeAspect="1"/>
          </p:cNvPicPr>
          <p:nvPr/>
        </p:nvPicPr>
        <p:blipFill>
          <a:blip r:embed="rId4"/>
          <a:srcRect t="13500"/>
          <a:stretch>
            <a:fillRect/>
          </a:stretch>
        </p:blipFill>
        <p:spPr>
          <a:xfrm>
            <a:off x="1353312" y="2377440"/>
            <a:ext cx="7562088" cy="4088253"/>
          </a:xfrm>
          <a:prstGeom prst="rect">
            <a:avLst/>
          </a:prstGeom>
          <a:ln w="19050">
            <a:solidFill>
              <a:srgbClr val="002060"/>
            </a:solidFill>
          </a:ln>
        </p:spPr>
      </p:pic>
      <p:sp>
        <p:nvSpPr>
          <p:cNvPr id="11" name="Caption 1"/>
          <p:cNvSpPr txBox="1"/>
          <p:nvPr/>
        </p:nvSpPr>
        <p:spPr>
          <a:xfrm>
            <a:off x="1353312" y="6675120"/>
            <a:ext cx="7562088" cy="1463040"/>
          </a:xfrm>
          <a:prstGeom prst="rect">
            <a:avLst/>
          </a:prstGeom>
          <a:noFill/>
        </p:spPr>
        <p:txBody>
          <a:bodyPr wrap="square" lIns="0" rIns="0" tIns="0" bIns="0" anchor="t">
            <a:spAutoFit/>
          </a:bodyPr>
          <a:lstStyle/>
          <a:p>
            <a:pPr algn="l">
              <a:spcAft>
                <a:spcPts val="0"/>
              </a:spcAft>
            </a:pPr>
            <a:r>
              <a:rPr sz="2400" b="0" i="0">
                <a:solidFill>
                  <a:srgbClr val="000000"/>
                </a:solidFill>
                <a:latin typeface="Calibri"/>
              </a:rPr>
              <a:t>Dashboard: the six demos run live on this laptop and the headline results update.</a:t>
            </a:r>
          </a:p>
        </p:txBody>
      </p:sp>
      <p:pic>
        <p:nvPicPr>
          <p:cNvPr id="12" name="Screenshot 2" descr="verify-ok.jpg"/>
          <p:cNvPicPr>
            <a:picLocks noChangeAspect="1"/>
          </p:cNvPicPr>
          <p:nvPr/>
        </p:nvPicPr>
        <p:blipFill>
          <a:blip r:embed="rId5"/>
          <a:srcRect b="13500"/>
          <a:stretch>
            <a:fillRect/>
          </a:stretch>
        </p:blipFill>
        <p:spPr>
          <a:xfrm>
            <a:off x="9372600" y="2377440"/>
            <a:ext cx="7562088" cy="4088253"/>
          </a:xfrm>
          <a:prstGeom prst="rect">
            <a:avLst/>
          </a:prstGeom>
          <a:ln w="19050">
            <a:solidFill>
              <a:srgbClr val="002060"/>
            </a:solidFill>
          </a:ln>
        </p:spPr>
      </p:pic>
      <p:sp>
        <p:nvSpPr>
          <p:cNvPr id="13" name="Caption 2"/>
          <p:cNvSpPr txBox="1"/>
          <p:nvPr/>
        </p:nvSpPr>
        <p:spPr>
          <a:xfrm>
            <a:off x="9372600" y="6675120"/>
            <a:ext cx="7562088" cy="1463040"/>
          </a:xfrm>
          <a:prstGeom prst="rect">
            <a:avLst/>
          </a:prstGeom>
          <a:noFill/>
        </p:spPr>
        <p:txBody>
          <a:bodyPr wrap="square" lIns="0" rIns="0" tIns="0" bIns="0" anchor="t">
            <a:spAutoFit/>
          </a:bodyPr>
          <a:lstStyle/>
          <a:p>
            <a:pPr algn="l">
              <a:spcAft>
                <a:spcPts val="0"/>
              </a:spcAft>
            </a:pPr>
            <a:r>
              <a:rPr sz="2400" b="0" i="0">
                <a:solidFill>
                  <a:srgbClr val="000000"/>
                </a:solidFill>
                <a:latin typeface="Calibri"/>
              </a:rPr>
              <a:t>Verify ownership: the claim, the Groth16 proof, every check and the verdict.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Project Timeline and Progress</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graphicFrame>
        <p:nvGraphicFramePr>
          <p:cNvPr id="10" name="Timeline table"/>
          <p:cNvGraphicFramePr>
            <a:graphicFrameLocks noGrp="1"/>
          </p:cNvGraphicFramePr>
          <p:nvPr/>
        </p:nvGraphicFramePr>
        <p:xfrm>
          <a:off x="1353312" y="2377440"/>
          <a:ext cx="15581376" cy="5925312"/>
        </p:xfrm>
        <a:graphic>
          <a:graphicData uri="http://schemas.openxmlformats.org/drawingml/2006/table">
            <a:tbl>
              <a:tblPr firstRow="1" bandRow="1">
                <a:tableStyleId>{5C22544A-7EE6-4342-B048-85BDC9FD1C3A}</a:tableStyleId>
              </a:tblPr>
              <a:tblGrid>
                <a:gridCol w="2560320"/>
                <a:gridCol w="10277856"/>
                <a:gridCol w="2743200"/>
              </a:tblGrid>
              <a:tr h="658368">
                <a:tc>
                  <a:txBody>
                    <a:bodyPr/>
                    <a:lstStyle/>
                    <a:p>
                      <a:r>
                        <a:rPr sz="2200" b="1" i="0">
                          <a:solidFill>
                            <a:srgbClr val="FFFFFF"/>
                          </a:solidFill>
                          <a:latin typeface="Calibri"/>
                        </a:rPr>
                        <a:t>Weeks</a:t>
                      </a:r>
                    </a:p>
                  </a:txBody>
                  <a:tcPr marL="109728" marR="109728" marT="36576" marB="36576" anchor="ctr"/>
                </a:tc>
                <a:tc>
                  <a:txBody>
                    <a:bodyPr/>
                    <a:lstStyle/>
                    <a:p>
                      <a:r>
                        <a:rPr sz="2200" b="1" i="0">
                          <a:solidFill>
                            <a:srgbClr val="FFFFFF"/>
                          </a:solidFill>
                          <a:latin typeface="Calibri"/>
                        </a:rPr>
                        <a:t>Work</a:t>
                      </a:r>
                    </a:p>
                  </a:txBody>
                  <a:tcPr marL="109728" marR="109728" marT="36576" marB="36576" anchor="ctr"/>
                </a:tc>
                <a:tc>
                  <a:txBody>
                    <a:bodyPr/>
                    <a:lstStyle/>
                    <a:p>
                      <a:r>
                        <a:rPr sz="2200" b="1" i="0">
                          <a:solidFill>
                            <a:srgbClr val="FFFFFF"/>
                          </a:solidFill>
                          <a:latin typeface="Calibri"/>
                        </a:rPr>
                        <a:t>Status</a:t>
                      </a:r>
                    </a:p>
                  </a:txBody>
                  <a:tcPr marL="109728" marR="109728" marT="36576" marB="36576" anchor="ctr"/>
                </a:tc>
              </a:tr>
              <a:tr h="658368">
                <a:tc>
                  <a:txBody>
                    <a:bodyPr/>
                    <a:lstStyle/>
                    <a:p>
                      <a:r>
                        <a:rPr sz="2000" b="0" i="0">
                          <a:solidFill>
                            <a:srgbClr val="000000"/>
                          </a:solidFill>
                          <a:latin typeface="Calibri"/>
                        </a:rPr>
                        <a:t>W1</a:t>
                      </a:r>
                    </a:p>
                  </a:txBody>
                  <a:tcPr marL="109728" marR="109728" marT="36576" marB="36576" anchor="ctr"/>
                </a:tc>
                <a:tc>
                  <a:txBody>
                    <a:bodyPr/>
                    <a:lstStyle/>
                    <a:p>
                      <a:r>
                        <a:rPr sz="2000" b="0" i="0">
                          <a:solidFill>
                            <a:srgbClr val="000000"/>
                          </a:solidFill>
                          <a:latin typeface="Calibri"/>
                        </a:rPr>
                        <a:t>Set-up and fixes to the first build</a:t>
                      </a:r>
                    </a:p>
                  </a:txBody>
                  <a:tcPr marL="109728" marR="109728" marT="36576" marB="36576" anchor="ctr"/>
                </a:tc>
                <a:tc>
                  <a:txBody>
                    <a:bodyPr/>
                    <a:lstStyle/>
                    <a:p>
                      <a:r>
                        <a:rPr sz="2000" b="1" i="0">
                          <a:solidFill>
                            <a:srgbClr val="2E7D32"/>
                          </a:solidFill>
                          <a:latin typeface="Calibri"/>
                        </a:rPr>
                        <a:t>Done</a:t>
                      </a:r>
                    </a:p>
                  </a:txBody>
                  <a:tcPr marL="109728" marR="109728" marT="36576" marB="36576" anchor="ctr"/>
                </a:tc>
              </a:tr>
              <a:tr h="658368">
                <a:tc>
                  <a:txBody>
                    <a:bodyPr/>
                    <a:lstStyle/>
                    <a:p>
                      <a:r>
                        <a:rPr sz="2000" b="0" i="0">
                          <a:solidFill>
                            <a:srgbClr val="000000"/>
                          </a:solidFill>
                          <a:latin typeface="Calibri"/>
                        </a:rPr>
                        <a:t>W2–W4</a:t>
                      </a:r>
                    </a:p>
                  </a:txBody>
                  <a:tcPr marL="109728" marR="109728" marT="36576" marB="36576" anchor="ctr"/>
                </a:tc>
                <a:tc>
                  <a:txBody>
                    <a:bodyPr/>
                    <a:lstStyle/>
                    <a:p>
                      <a:r>
                        <a:rPr sz="2000" b="0" i="0">
                          <a:solidFill>
                            <a:srgbClr val="000000"/>
                          </a:solidFill>
                          <a:latin typeface="Calibri"/>
                        </a:rPr>
                        <a:t>Protocol v2: commitment, owner identity, registry timestamps</a:t>
                      </a:r>
                    </a:p>
                  </a:txBody>
                  <a:tcPr marL="109728" marR="109728" marT="36576" marB="36576" anchor="ctr"/>
                </a:tc>
                <a:tc>
                  <a:txBody>
                    <a:bodyPr/>
                    <a:lstStyle/>
                    <a:p>
                      <a:r>
                        <a:rPr sz="2000" b="1" i="0">
                          <a:solidFill>
                            <a:srgbClr val="2E7D32"/>
                          </a:solidFill>
                          <a:latin typeface="Calibri"/>
                        </a:rPr>
                        <a:t>Done</a:t>
                      </a:r>
                    </a:p>
                  </a:txBody>
                  <a:tcPr marL="109728" marR="109728" marT="36576" marB="36576" anchor="ctr"/>
                </a:tc>
              </a:tr>
              <a:tr h="658368">
                <a:tc>
                  <a:txBody>
                    <a:bodyPr/>
                    <a:lstStyle/>
                    <a:p>
                      <a:r>
                        <a:rPr sz="2000" b="0" i="0">
                          <a:solidFill>
                            <a:srgbClr val="000000"/>
                          </a:solidFill>
                          <a:latin typeface="Calibri"/>
                        </a:rPr>
                        <a:t>W3–W8</a:t>
                      </a:r>
                    </a:p>
                  </a:txBody>
                  <a:tcPr marL="109728" marR="109728" marT="36576" marB="36576" anchor="ctr"/>
                </a:tc>
                <a:tc>
                  <a:txBody>
                    <a:bodyPr/>
                    <a:lstStyle/>
                    <a:p>
                      <a:r>
                        <a:rPr sz="2000" b="0" i="0">
                          <a:solidFill>
                            <a:srgbClr val="000000"/>
                          </a:solidFill>
                          <a:latin typeface="Calibri"/>
                        </a:rPr>
                        <a:t>Zero-knowledge pipeline; SDK for PyTorch, Keras and ONNX (491 tests pass)</a:t>
                      </a:r>
                    </a:p>
                  </a:txBody>
                  <a:tcPr marL="109728" marR="109728" marT="36576" marB="36576" anchor="ctr"/>
                </a:tc>
                <a:tc>
                  <a:txBody>
                    <a:bodyPr/>
                    <a:lstStyle/>
                    <a:p>
                      <a:r>
                        <a:rPr sz="2000" b="1" i="0">
                          <a:solidFill>
                            <a:srgbClr val="2E7D32"/>
                          </a:solidFill>
                          <a:latin typeface="Calibri"/>
                        </a:rPr>
                        <a:t>Done</a:t>
                      </a:r>
                    </a:p>
                  </a:txBody>
                  <a:tcPr marL="109728" marR="109728" marT="36576" marB="36576" anchor="ctr"/>
                </a:tc>
              </a:tr>
              <a:tr h="658368">
                <a:tc>
                  <a:txBody>
                    <a:bodyPr/>
                    <a:lstStyle/>
                    <a:p>
                      <a:r>
                        <a:rPr sz="2000" b="0" i="0">
                          <a:solidFill>
                            <a:srgbClr val="000000"/>
                          </a:solidFill>
                          <a:latin typeface="Calibri"/>
                        </a:rPr>
                        <a:t>W9–W10</a:t>
                      </a:r>
                    </a:p>
                  </a:txBody>
                  <a:tcPr marL="109728" marR="109728" marT="36576" marB="36576" anchor="ctr"/>
                </a:tc>
                <a:tc>
                  <a:txBody>
                    <a:bodyPr/>
                    <a:lstStyle/>
                    <a:p>
                      <a:r>
                        <a:rPr sz="2000" b="0" i="0">
                          <a:solidFill>
                            <a:srgbClr val="000000"/>
                          </a:solidFill>
                          <a:latin typeface="Calibri"/>
                        </a:rPr>
                        <a:t>Semester 7 review</a:t>
                      </a:r>
                    </a:p>
                  </a:txBody>
                  <a:tcPr marL="109728" marR="109728" marT="36576" marB="36576" anchor="ctr"/>
                </a:tc>
                <a:tc>
                  <a:txBody>
                    <a:bodyPr/>
                    <a:lstStyle/>
                    <a:p>
                      <a:r>
                        <a:rPr sz="2000" b="1" i="0">
                          <a:solidFill>
                            <a:srgbClr val="002060"/>
                          </a:solidFill>
                          <a:latin typeface="Calibri"/>
                        </a:rPr>
                        <a:t>Upcoming</a:t>
                      </a:r>
                    </a:p>
                  </a:txBody>
                  <a:tcPr marL="109728" marR="109728" marT="36576" marB="36576" anchor="ctr"/>
                </a:tc>
              </a:tr>
              <a:tr h="658368">
                <a:tc>
                  <a:txBody>
                    <a:bodyPr/>
                    <a:lstStyle/>
                    <a:p>
                      <a:r>
                        <a:rPr sz="2000" b="0" i="0">
                          <a:solidFill>
                            <a:srgbClr val="000000"/>
                          </a:solidFill>
                          <a:latin typeface="Calibri"/>
                        </a:rPr>
                        <a:t>W11–W15</a:t>
                      </a:r>
                    </a:p>
                  </a:txBody>
                  <a:tcPr marL="109728" marR="109728" marT="36576" marB="36576" anchor="ctr"/>
                </a:tc>
                <a:tc>
                  <a:txBody>
                    <a:bodyPr/>
                    <a:lstStyle/>
                    <a:p>
                      <a:r>
                        <a:rPr sz="2000" b="0" i="0">
                          <a:solidFill>
                            <a:srgbClr val="000000"/>
                          </a:solidFill>
                          <a:latin typeface="Calibri"/>
                        </a:rPr>
                        <a:t>Robustness study (MNIST done, CIFAR-10 next); FastAPI + PostgreSQL backend built</a:t>
                      </a:r>
                    </a:p>
                  </a:txBody>
                  <a:tcPr marL="109728" marR="109728" marT="36576" marB="36576" anchor="ctr"/>
                </a:tc>
                <a:tc>
                  <a:txBody>
                    <a:bodyPr/>
                    <a:lstStyle/>
                    <a:p>
                      <a:r>
                        <a:rPr sz="2000" b="1" i="0">
                          <a:solidFill>
                            <a:srgbClr val="9C5700"/>
                          </a:solidFill>
                          <a:latin typeface="Calibri"/>
                        </a:rPr>
                        <a:t>In progress</a:t>
                      </a:r>
                    </a:p>
                  </a:txBody>
                  <a:tcPr marL="109728" marR="109728" marT="36576" marB="36576" anchor="ctr"/>
                </a:tc>
              </a:tr>
              <a:tr h="658368">
                <a:tc>
                  <a:txBody>
                    <a:bodyPr/>
                    <a:lstStyle/>
                    <a:p>
                      <a:r>
                        <a:rPr sz="2000" b="0" i="0">
                          <a:solidFill>
                            <a:srgbClr val="000000"/>
                          </a:solidFill>
                          <a:latin typeface="Calibri"/>
                        </a:rPr>
                        <a:t>W15–W17</a:t>
                      </a:r>
                    </a:p>
                  </a:txBody>
                  <a:tcPr marL="109728" marR="109728" marT="36576" marB="36576" anchor="ctr"/>
                </a:tc>
                <a:tc>
                  <a:txBody>
                    <a:bodyPr/>
                    <a:lstStyle/>
                    <a:p>
                      <a:r>
                        <a:rPr sz="2000" b="0" i="0">
                          <a:solidFill>
                            <a:srgbClr val="000000"/>
                          </a:solidFill>
                          <a:latin typeface="Calibri"/>
                        </a:rPr>
                        <a:t>Integration, evaluation and documentation</a:t>
                      </a:r>
                    </a:p>
                  </a:txBody>
                  <a:tcPr marL="109728" marR="109728" marT="36576" marB="36576" anchor="ctr"/>
                </a:tc>
                <a:tc>
                  <a:txBody>
                    <a:bodyPr/>
                    <a:lstStyle/>
                    <a:p>
                      <a:r>
                        <a:rPr sz="2000" b="1" i="0">
                          <a:solidFill>
                            <a:srgbClr val="595959"/>
                          </a:solidFill>
                          <a:latin typeface="Calibri"/>
                        </a:rPr>
                        <a:t>Planned</a:t>
                      </a:r>
                    </a:p>
                  </a:txBody>
                  <a:tcPr marL="109728" marR="109728" marT="36576" marB="36576" anchor="ctr"/>
                </a:tc>
              </a:tr>
              <a:tr h="658368">
                <a:tc>
                  <a:txBody>
                    <a:bodyPr/>
                    <a:lstStyle/>
                    <a:p>
                      <a:r>
                        <a:rPr sz="2000" b="0" i="0">
                          <a:solidFill>
                            <a:srgbClr val="000000"/>
                          </a:solidFill>
                          <a:latin typeface="Calibri"/>
                        </a:rPr>
                        <a:t>W18–W23</a:t>
                      </a:r>
                    </a:p>
                  </a:txBody>
                  <a:tcPr marL="109728" marR="109728" marT="36576" marB="36576" anchor="ctr"/>
                </a:tc>
                <a:tc>
                  <a:txBody>
                    <a:bodyPr/>
                    <a:lstStyle/>
                    <a:p>
                      <a:r>
                        <a:rPr sz="2000" b="0" i="0">
                          <a:solidFill>
                            <a:srgbClr val="000000"/>
                          </a:solidFill>
                          <a:latin typeface="Calibri"/>
                        </a:rPr>
                        <a:t>New dashboard on the FastAPI backend</a:t>
                      </a:r>
                    </a:p>
                  </a:txBody>
                  <a:tcPr marL="109728" marR="109728" marT="36576" marB="36576" anchor="ctr"/>
                </a:tc>
                <a:tc>
                  <a:txBody>
                    <a:bodyPr/>
                    <a:lstStyle/>
                    <a:p>
                      <a:r>
                        <a:rPr sz="2000" b="1" i="0">
                          <a:solidFill>
                            <a:srgbClr val="595959"/>
                          </a:solidFill>
                          <a:latin typeface="Calibri"/>
                        </a:rPr>
                        <a:t>Planned</a:t>
                      </a:r>
                    </a:p>
                  </a:txBody>
                  <a:tcPr marL="109728" marR="109728" marT="36576" marB="36576" anchor="ctr"/>
                </a:tc>
              </a:tr>
              <a:tr h="658368">
                <a:tc>
                  <a:txBody>
                    <a:bodyPr/>
                    <a:lstStyle/>
                    <a:p>
                      <a:r>
                        <a:rPr sz="2000" b="0" i="0">
                          <a:solidFill>
                            <a:srgbClr val="000000"/>
                          </a:solidFill>
                          <a:latin typeface="Calibri"/>
                        </a:rPr>
                        <a:t>W24–W26</a:t>
                      </a:r>
                    </a:p>
                  </a:txBody>
                  <a:tcPr marL="109728" marR="109728" marT="36576" marB="36576" anchor="ctr"/>
                </a:tc>
                <a:tc>
                  <a:txBody>
                    <a:bodyPr/>
                    <a:lstStyle/>
                    <a:p>
                      <a:r>
                        <a:rPr sz="2000" b="0" i="0">
                          <a:solidFill>
                            <a:srgbClr val="000000"/>
                          </a:solidFill>
                          <a:latin typeface="Calibri"/>
                        </a:rPr>
                        <a:t>Final report and viva</a:t>
                      </a:r>
                    </a:p>
                  </a:txBody>
                  <a:tcPr marL="109728" marR="109728" marT="36576" marB="36576" anchor="ctr"/>
                </a:tc>
                <a:tc>
                  <a:txBody>
                    <a:bodyPr/>
                    <a:lstStyle/>
                    <a:p>
                      <a:r>
                        <a:rPr sz="2000" b="1" i="0">
                          <a:solidFill>
                            <a:srgbClr val="595959"/>
                          </a:solidFill>
                          <a:latin typeface="Calibri"/>
                        </a:rPr>
                        <a:t>Planned</a:t>
                      </a:r>
                    </a:p>
                  </a:txBody>
                  <a:tcPr marL="109728" marR="109728" marT="36576" marB="36576"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Outcomes and Future Work</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graphicFrame>
        <p:nvGraphicFramePr>
          <p:cNvPr id="10" name="Outcome table"/>
          <p:cNvGraphicFramePr>
            <a:graphicFrameLocks noGrp="1"/>
          </p:cNvGraphicFramePr>
          <p:nvPr/>
        </p:nvGraphicFramePr>
        <p:xfrm>
          <a:off x="1353312" y="2377440"/>
          <a:ext cx="15581376" cy="4992624"/>
        </p:xfrm>
        <a:graphic>
          <a:graphicData uri="http://schemas.openxmlformats.org/drawingml/2006/table">
            <a:tbl>
              <a:tblPr firstRow="1" bandRow="1">
                <a:tableStyleId>{5C22544A-7EE6-4342-B048-85BDC9FD1C3A}</a:tableStyleId>
              </a:tblPr>
              <a:tblGrid>
                <a:gridCol w="4846320"/>
                <a:gridCol w="1737360"/>
                <a:gridCol w="8997696"/>
              </a:tblGrid>
              <a:tr h="713232">
                <a:tc>
                  <a:txBody>
                    <a:bodyPr/>
                    <a:lstStyle/>
                    <a:p>
                      <a:r>
                        <a:rPr sz="2200" b="1" i="0">
                          <a:solidFill>
                            <a:srgbClr val="FFFFFF"/>
                          </a:solidFill>
                          <a:latin typeface="Calibri"/>
                        </a:rPr>
                        <a:t>Expected outcome</a:t>
                      </a:r>
                    </a:p>
                  </a:txBody>
                  <a:tcPr marL="109728" marR="109728" marT="36576" marB="36576" anchor="ctr"/>
                </a:tc>
                <a:tc>
                  <a:txBody>
                    <a:bodyPr/>
                    <a:lstStyle/>
                    <a:p>
                      <a:r>
                        <a:rPr sz="2200" b="1" i="0">
                          <a:solidFill>
                            <a:srgbClr val="FFFFFF"/>
                          </a:solidFill>
                          <a:latin typeface="Calibri"/>
                        </a:rPr>
                        <a:t>Status</a:t>
                      </a:r>
                    </a:p>
                  </a:txBody>
                  <a:tcPr marL="109728" marR="109728" marT="36576" marB="36576" anchor="ctr"/>
                </a:tc>
                <a:tc>
                  <a:txBody>
                    <a:bodyPr/>
                    <a:lstStyle/>
                    <a:p>
                      <a:r>
                        <a:rPr sz="2200" b="1" i="0">
                          <a:solidFill>
                            <a:srgbClr val="FFFFFF"/>
                          </a:solidFill>
                          <a:latin typeface="Calibri"/>
                        </a:rPr>
                        <a:t>Evidence</a:t>
                      </a:r>
                    </a:p>
                  </a:txBody>
                  <a:tcPr marL="109728" marR="109728" marT="36576" marB="36576" anchor="ctr"/>
                </a:tc>
              </a:tr>
              <a:tr h="713232">
                <a:tc>
                  <a:txBody>
                    <a:bodyPr/>
                    <a:lstStyle/>
                    <a:p>
                      <a:r>
                        <a:rPr sz="1900" b="0" i="0">
                          <a:solidFill>
                            <a:srgbClr val="000000"/>
                          </a:solidFill>
                          <a:latin typeface="Calibri"/>
                        </a:rPr>
                        <a:t>Secure watermarking for ownership</a:t>
                      </a:r>
                    </a:p>
                  </a:txBody>
                  <a:tcPr marL="109728" marR="109728" marT="36576" marB="36576" anchor="ctr"/>
                </a:tc>
                <a:tc>
                  <a:txBody>
                    <a:bodyPr/>
                    <a:lstStyle/>
                    <a:p>
                      <a:r>
                        <a:rPr sz="1900" b="1" i="0">
                          <a:solidFill>
                            <a:srgbClr val="2E7D32"/>
                          </a:solidFill>
                          <a:latin typeface="Calibri"/>
                        </a:rPr>
                        <a:t>Achieved</a:t>
                      </a:r>
                    </a:p>
                  </a:txBody>
                  <a:tcPr marL="109728" marR="109728" marT="36576" marB="36576" anchor="ctr"/>
                </a:tc>
                <a:tc>
                  <a:txBody>
                    <a:bodyPr/>
                    <a:lstStyle/>
                    <a:p>
                      <a:r>
                        <a:rPr sz="1900" b="0" i="0">
                          <a:solidFill>
                            <a:srgbClr val="000000"/>
                          </a:solidFill>
                          <a:latin typeface="Calibri"/>
                        </a:rPr>
                        <a:t>64-bit mark, accuracy 98.69% → 98.66%; PyTorch, Keras and ONNX</a:t>
                      </a:r>
                    </a:p>
                  </a:txBody>
                  <a:tcPr marL="109728" marR="109728" marT="36576" marB="36576" anchor="ctr"/>
                </a:tc>
              </a:tr>
              <a:tr h="713232">
                <a:tc>
                  <a:txBody>
                    <a:bodyPr/>
                    <a:lstStyle/>
                    <a:p>
                      <a:r>
                        <a:rPr sz="1900" b="0" i="0">
                          <a:solidFill>
                            <a:srgbClr val="000000"/>
                          </a:solidFill>
                          <a:latin typeface="Calibri"/>
                        </a:rPr>
                        <a:t>Detection and cryptographic verification</a:t>
                      </a:r>
                    </a:p>
                  </a:txBody>
                  <a:tcPr marL="109728" marR="109728" marT="36576" marB="36576" anchor="ctr"/>
                </a:tc>
                <a:tc>
                  <a:txBody>
                    <a:bodyPr/>
                    <a:lstStyle/>
                    <a:p>
                      <a:r>
                        <a:rPr sz="1900" b="1" i="0">
                          <a:solidFill>
                            <a:srgbClr val="2E7D32"/>
                          </a:solidFill>
                          <a:latin typeface="Calibri"/>
                        </a:rPr>
                        <a:t>Achieved</a:t>
                      </a:r>
                    </a:p>
                  </a:txBody>
                  <a:tcPr marL="109728" marR="109728" marT="36576" marB="36576" anchor="ctr"/>
                </a:tc>
                <a:tc>
                  <a:txBody>
                    <a:bodyPr/>
                    <a:lstStyle/>
                    <a:p>
                      <a:r>
                        <a:rPr sz="1900" b="0" i="0">
                          <a:solidFill>
                            <a:srgbClr val="000000"/>
                          </a:solidFill>
                          <a:latin typeface="Calibri"/>
                        </a:rPr>
                        <a:t>Ed25519-signed, timestamped registrations; 12 verifier checks</a:t>
                      </a:r>
                    </a:p>
                  </a:txBody>
                  <a:tcPr marL="109728" marR="109728" marT="36576" marB="36576" anchor="ctr"/>
                </a:tc>
              </a:tr>
              <a:tr h="713232">
                <a:tc>
                  <a:txBody>
                    <a:bodyPr/>
                    <a:lstStyle/>
                    <a:p>
                      <a:r>
                        <a:rPr sz="1900" b="0" i="0">
                          <a:solidFill>
                            <a:srgbClr val="000000"/>
                          </a:solidFill>
                          <a:latin typeface="Calibri"/>
                        </a:rPr>
                        <a:t>Privacy-preserving ZKP authentication</a:t>
                      </a:r>
                    </a:p>
                  </a:txBody>
                  <a:tcPr marL="109728" marR="109728" marT="36576" marB="36576" anchor="ctr"/>
                </a:tc>
                <a:tc>
                  <a:txBody>
                    <a:bodyPr/>
                    <a:lstStyle/>
                    <a:p>
                      <a:r>
                        <a:rPr sz="1900" b="1" i="0">
                          <a:solidFill>
                            <a:srgbClr val="2E7D32"/>
                          </a:solidFill>
                          <a:latin typeface="Calibri"/>
                        </a:rPr>
                        <a:t>Achieved</a:t>
                      </a:r>
                    </a:p>
                  </a:txBody>
                  <a:tcPr marL="109728" marR="109728" marT="36576" marB="36576" anchor="ctr"/>
                </a:tc>
                <a:tc>
                  <a:txBody>
                    <a:bodyPr/>
                    <a:lstStyle/>
                    <a:p>
                      <a:r>
                        <a:rPr sz="1900" b="0" i="0">
                          <a:solidFill>
                            <a:srgbClr val="000000"/>
                          </a:solidFill>
                          <a:latin typeface="Calibri"/>
                        </a:rPr>
                        <a:t>Circom + Groth16 proof in 3.9 s; also verified on-chain</a:t>
                      </a:r>
                    </a:p>
                  </a:txBody>
                  <a:tcPr marL="109728" marR="109728" marT="36576" marB="36576" anchor="ctr"/>
                </a:tc>
              </a:tr>
              <a:tr h="713232">
                <a:tc>
                  <a:txBody>
                    <a:bodyPr/>
                    <a:lstStyle/>
                    <a:p>
                      <a:r>
                        <a:rPr sz="1900" b="0" i="0">
                          <a:solidFill>
                            <a:srgbClr val="000000"/>
                          </a:solidFill>
                          <a:latin typeface="Calibri"/>
                        </a:rPr>
                        <a:t>Robustness to modification attacks</a:t>
                      </a:r>
                    </a:p>
                  </a:txBody>
                  <a:tcPr marL="109728" marR="109728" marT="36576" marB="36576" anchor="ctr"/>
                </a:tc>
                <a:tc>
                  <a:txBody>
                    <a:bodyPr/>
                    <a:lstStyle/>
                    <a:p>
                      <a:r>
                        <a:rPr sz="1900" b="1" i="0">
                          <a:solidFill>
                            <a:srgbClr val="9C5700"/>
                          </a:solidFill>
                          <a:latin typeface="Calibri"/>
                        </a:rPr>
                        <a:t>Partly</a:t>
                      </a:r>
                    </a:p>
                  </a:txBody>
                  <a:tcPr marL="109728" marR="109728" marT="36576" marB="36576" anchor="ctr"/>
                </a:tc>
                <a:tc>
                  <a:txBody>
                    <a:bodyPr/>
                    <a:lstStyle/>
                    <a:p>
                      <a:r>
                        <a:rPr sz="1900" b="0" i="0">
                          <a:solidFill>
                            <a:srgbClr val="000000"/>
                          </a:solidFill>
                          <a:latin typeface="Calibri"/>
                        </a:rPr>
                        <a:t>Survives pruning, quantisation, fine-tuning, overwriting; permutation needs realignment; model extraction removes it</a:t>
                      </a:r>
                    </a:p>
                  </a:txBody>
                  <a:tcPr marL="109728" marR="109728" marT="36576" marB="36576" anchor="ctr"/>
                </a:tc>
              </a:tr>
              <a:tr h="713232">
                <a:tc>
                  <a:txBody>
                    <a:bodyPr/>
                    <a:lstStyle/>
                    <a:p>
                      <a:r>
                        <a:rPr sz="1900" b="0" i="0">
                          <a:solidFill>
                            <a:srgbClr val="000000"/>
                          </a:solidFill>
                          <a:latin typeface="Calibri"/>
                        </a:rPr>
                        <a:t>Framework-agnostic SDK / API</a:t>
                      </a:r>
                    </a:p>
                  </a:txBody>
                  <a:tcPr marL="109728" marR="109728" marT="36576" marB="36576" anchor="ctr"/>
                </a:tc>
                <a:tc>
                  <a:txBody>
                    <a:bodyPr/>
                    <a:lstStyle/>
                    <a:p>
                      <a:r>
                        <a:rPr sz="1900" b="1" i="0">
                          <a:solidFill>
                            <a:srgbClr val="2E7D32"/>
                          </a:solidFill>
                          <a:latin typeface="Calibri"/>
                        </a:rPr>
                        <a:t>Achieved</a:t>
                      </a:r>
                    </a:p>
                  </a:txBody>
                  <a:tcPr marL="109728" marR="109728" marT="36576" marB="36576" anchor="ctr"/>
                </a:tc>
                <a:tc>
                  <a:txBody>
                    <a:bodyPr/>
                    <a:lstStyle/>
                    <a:p>
                      <a:r>
                        <a:rPr sz="1900" b="0" i="0">
                          <a:solidFill>
                            <a:srgbClr val="000000"/>
                          </a:solidFill>
                          <a:latin typeface="Calibri"/>
                        </a:rPr>
                        <a:t>sigil SDK and CLI: embed, detect, register, prove, verify, attack, report</a:t>
                      </a:r>
                    </a:p>
                  </a:txBody>
                  <a:tcPr marL="109728" marR="109728" marT="36576" marB="36576" anchor="ctr"/>
                </a:tc>
              </a:tr>
              <a:tr h="713232">
                <a:tc>
                  <a:txBody>
                    <a:bodyPr/>
                    <a:lstStyle/>
                    <a:p>
                      <a:r>
                        <a:rPr sz="1900" b="0" i="0">
                          <a:solidFill>
                            <a:srgbClr val="000000"/>
                          </a:solidFill>
                          <a:latin typeface="Calibri"/>
                        </a:rPr>
                        <a:t>Dashboard and compliance reporting</a:t>
                      </a:r>
                    </a:p>
                  </a:txBody>
                  <a:tcPr marL="109728" marR="109728" marT="36576" marB="36576" anchor="ctr"/>
                </a:tc>
                <a:tc>
                  <a:txBody>
                    <a:bodyPr/>
                    <a:lstStyle/>
                    <a:p>
                      <a:r>
                        <a:rPr sz="1900" b="1" i="0">
                          <a:solidFill>
                            <a:srgbClr val="9C5700"/>
                          </a:solidFill>
                          <a:latin typeface="Calibri"/>
                        </a:rPr>
                        <a:t>Partly</a:t>
                      </a:r>
                    </a:p>
                  </a:txBody>
                  <a:tcPr marL="109728" marR="109728" marT="36576" marB="36576" anchor="ctr"/>
                </a:tc>
                <a:tc>
                  <a:txBody>
                    <a:bodyPr/>
                    <a:lstStyle/>
                    <a:p>
                      <a:r>
                        <a:rPr sz="1900" b="0" i="0">
                          <a:solidFill>
                            <a:srgbClr val="000000"/>
                          </a:solidFill>
                          <a:latin typeface="Calibri"/>
                        </a:rPr>
                        <a:t>Demo dashboard works; backend with reports built; new UI planned</a:t>
                      </a:r>
                    </a:p>
                  </a:txBody>
                  <a:tcPr marL="109728" marR="109728" marT="36576" marB="36576" anchor="ctr"/>
                </a:tc>
              </a:tr>
            </a:tbl>
          </a:graphicData>
        </a:graphic>
      </p:graphicFrame>
      <p:sp>
        <p:nvSpPr>
          <p:cNvPr id="11" name="Future work"/>
          <p:cNvSpPr txBox="1"/>
          <p:nvPr/>
        </p:nvSpPr>
        <p:spPr>
          <a:xfrm>
            <a:off x="1353312" y="7635240"/>
            <a:ext cx="15581376" cy="822960"/>
          </a:xfrm>
          <a:prstGeom prst="rect">
            <a:avLst/>
          </a:prstGeom>
          <a:noFill/>
        </p:spPr>
        <p:txBody>
          <a:bodyPr wrap="square" lIns="0" rIns="0" tIns="0" bIns="0" anchor="t">
            <a:spAutoFit/>
          </a:bodyPr>
          <a:lstStyle/>
          <a:p>
            <a:pPr algn="l">
              <a:spcAft>
                <a:spcPts val="0"/>
              </a:spcAft>
            </a:pPr>
            <a:r>
              <a:rPr sz="2400" b="1" i="0">
                <a:solidFill>
                  <a:srgbClr val="002060"/>
                </a:solidFill>
                <a:latin typeface="Times New Roman"/>
              </a:rPr>
              <a:t>Future work: </a:t>
            </a:r>
            <a:r>
              <a:rPr sz="2400" b="0" i="0">
                <a:solidFill>
                  <a:srgbClr val="000000"/>
                </a:solidFill>
                <a:latin typeface="Calibri"/>
              </a:rPr>
              <a:t>CIFAR-10 ResNet-18 and 256-bit evaluation · a defence against model extraction · the new dashboard on the backend · the final report.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8640"/>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l">
                <a:lnSpc>
                  <a:spcPts val="7920"/>
                </a:lnSpc>
              </a:pPr>
              <a:r>
                <a:rPr lang="en-US" sz="6600" b="1">
                  <a:solidFill>
                    <a:srgbClr val="002060"/>
                  </a:solidFill>
                  <a:latin typeface="Times New Roman Bold"/>
                  <a:ea typeface="Times New Roman Bold"/>
                  <a:cs typeface="Times New Roman Bold"/>
                  <a:sym typeface="Times New Roman Bold"/>
                </a:rPr>
                <a:t>References</a:t>
              </a:r>
            </a:p>
          </p:txBody>
        </p:sp>
      </p:grpSp>
      <p:sp>
        <p:nvSpPr>
          <p:cNvPr id="6" name="AutoShape 6"/>
          <p:cNvSpPr/>
          <p:nvPr/>
        </p:nvSpPr>
        <p:spPr>
          <a:xfrm rot="6540">
            <a:off x="-36690" y="8753475"/>
            <a:ext cx="18354446" cy="0"/>
          </a:xfrm>
          <a:prstGeom prst="line">
            <a:avLst/>
          </a:prstGeom>
          <a:ln w="19050" cap="rnd">
            <a:solidFill>
              <a:srgbClr val="002060"/>
            </a:solidFill>
            <a:prstDash val="solid"/>
            <a:headEnd type="none" w="sm" len="sm"/>
            <a:tailEnd type="none" w="sm" len="sm"/>
          </a:ln>
        </p:spPr>
        <p:txBody>
          <a:bodyPr/>
          <a:lstStyle/>
          <a:p>
            <a:endParaRPr lang="en-US"/>
          </a:p>
        </p:txBody>
      </p:sp>
      <p:sp>
        <p:nvSpPr>
          <p:cNvPr id="7" name="TextBox 7"/>
          <p:cNvSpPr txBox="1"/>
          <p:nvPr/>
        </p:nvSpPr>
        <p:spPr>
          <a:xfrm>
            <a:off x="3626234" y="9264110"/>
            <a:ext cx="11976868" cy="422072"/>
          </a:xfrm>
          <a:prstGeom prst="rect">
            <a:avLst/>
          </a:prstGeom>
        </p:spPr>
        <p:txBody>
          <a:bodyPr lIns="0" tIns="0" rIns="0" bIns="0" rtlCol="0" anchor="t">
            <a:spAutoFit/>
          </a:bodyPr>
          <a:lstStyle/>
          <a:p>
            <a:pPr algn="ctr">
              <a:lnSpc>
                <a:spcPts val="2879"/>
              </a:lnSpc>
            </a:pPr>
            <a:r>
              <a:rPr lang="en-US" sz="2400" b="1" i="1">
                <a:solidFill>
                  <a:srgbClr val="002060"/>
                </a:solidFill>
                <a:latin typeface="Times New Roman Bold Italics"/>
                <a:ea typeface="Times New Roman Bold Italics"/>
                <a:cs typeface="Times New Roman Bold Italics"/>
                <a:sym typeface="Times New Roman Bold Italics"/>
              </a:rPr>
              <a:t>Department of Computer Science &amp; Engineering (IoTCSBCT), MHSSCE, Mumbai</a:t>
            </a:r>
          </a:p>
        </p:txBody>
      </p:sp>
      <p:grpSp>
        <p:nvGrpSpPr>
          <p:cNvPr id="8" name="Group 8"/>
          <p:cNvGrpSpPr/>
          <p:nvPr/>
        </p:nvGrpSpPr>
        <p:grpSpPr>
          <a:xfrm>
            <a:off x="2684897" y="8859650"/>
            <a:ext cx="1516942" cy="1227811"/>
            <a:chOff x="0" y="0"/>
            <a:chExt cx="2022589" cy="1637081"/>
          </a:xfrm>
        </p:grpSpPr>
        <p:sp>
          <p:nvSpPr>
            <p:cNvPr id="9" name="Freeform 9" descr="EOTY(Engineer Of The Year) – MHSSCOE ACM CHAPTER"/>
            <p:cNvSpPr/>
            <p:nvPr/>
          </p:nvSpPr>
          <p:spPr>
            <a:xfrm>
              <a:off x="0" y="0"/>
              <a:ext cx="2022602" cy="1637030"/>
            </a:xfrm>
            <a:custGeom>
              <a:avLst/>
              <a:gdLst/>
              <a:ahLst/>
              <a:cxnLst/>
              <a:rect l="l" t="t" r="r" b="b"/>
              <a:pathLst>
                <a:path w="2022602" h="1637030">
                  <a:moveTo>
                    <a:pt x="0" y="0"/>
                  </a:moveTo>
                  <a:lnTo>
                    <a:pt x="2022602" y="0"/>
                  </a:lnTo>
                  <a:lnTo>
                    <a:pt x="2022602" y="1637030"/>
                  </a:lnTo>
                  <a:lnTo>
                    <a:pt x="0" y="1637030"/>
                  </a:lnTo>
                  <a:lnTo>
                    <a:pt x="0" y="0"/>
                  </a:lnTo>
                  <a:close/>
                </a:path>
              </a:pathLst>
            </a:custGeom>
            <a:blipFill>
              <a:blip r:embed="rId3"/>
              <a:stretch>
                <a:fillRect b="-23003"/>
              </a:stretch>
            </a:blipFill>
          </p:spPr>
          <p:txBody>
            <a:bodyPr/>
            <a:lstStyle/>
            <a:p>
              <a:endParaRPr lang="en-US"/>
            </a:p>
          </p:txBody>
        </p:sp>
      </p:grpSp>
      <p:sp>
        <p:nvSpPr>
          <p:cNvPr id="10" name="Reference list"/>
          <p:cNvSpPr txBox="1"/>
          <p:nvPr/>
        </p:nvSpPr>
        <p:spPr>
          <a:xfrm>
            <a:off x="1353312" y="2240280"/>
            <a:ext cx="15581376" cy="6309360"/>
          </a:xfrm>
          <a:prstGeom prst="rect">
            <a:avLst/>
          </a:prstGeom>
          <a:noFill/>
        </p:spPr>
        <p:txBody>
          <a:bodyPr wrap="square" lIns="0" rIns="0" tIns="0" bIns="0" anchor="t">
            <a:spAutoFit/>
          </a:bodyPr>
          <a:lstStyle/>
          <a:p>
            <a:pPr algn="l">
              <a:spcAft>
                <a:spcPts val="600"/>
              </a:spcAft>
            </a:pPr>
            <a:r>
              <a:rPr sz="2200" b="0" i="0">
                <a:solidFill>
                  <a:srgbClr val="000000"/>
                </a:solidFill>
                <a:latin typeface="Times New Roman"/>
              </a:rPr>
              <a:t>[1] Uchida, Nagai, Sakazawa and Satoh, "Embedding Watermarks into Deep Neural Networks," ACM ICMR, pp. 269–277, 2017.</a:t>
            </a:r>
          </a:p>
          <a:p>
            <a:pPr algn="l">
              <a:spcAft>
                <a:spcPts val="600"/>
              </a:spcAft>
            </a:pPr>
            <a:r>
              <a:rPr sz="2200" b="0" i="0">
                <a:solidFill>
                  <a:srgbClr val="000000"/>
                </a:solidFill>
                <a:latin typeface="Times New Roman"/>
              </a:rPr>
              <a:t>[2] Adi et al., "Turning Your Weakness Into a Strength: Watermarking Deep Neural Networks by Backdooring," USENIX Security, pp. 1615–1631, 2018.</a:t>
            </a:r>
          </a:p>
          <a:p>
            <a:pPr algn="l">
              <a:spcAft>
                <a:spcPts val="600"/>
              </a:spcAft>
            </a:pPr>
            <a:r>
              <a:rPr sz="2200" b="0" i="0">
                <a:solidFill>
                  <a:srgbClr val="000000"/>
                </a:solidFill>
                <a:latin typeface="Times New Roman"/>
              </a:rPr>
              <a:t>[3] Rouhani, Chen and Koushanfar, "DeepSigns: A Generic Watermarking Framework for Protecting the Ownership of Deep Learning Models," arXiv:1804.00750, 2018.</a:t>
            </a:r>
          </a:p>
          <a:p>
            <a:pPr algn="l">
              <a:spcAft>
                <a:spcPts val="600"/>
              </a:spcAft>
            </a:pPr>
            <a:r>
              <a:rPr sz="2200" b="0" i="0">
                <a:solidFill>
                  <a:srgbClr val="000000"/>
                </a:solidFill>
                <a:latin typeface="Times New Roman"/>
              </a:rPr>
              <a:t>[4] Fan, Ng and Chan, "Rethinking Deep Neural Network Ownership Verification: Embedding Passports to Defeat Ambiguity Attacks," NeurIPS, 2019.</a:t>
            </a:r>
          </a:p>
          <a:p>
            <a:pPr algn="l">
              <a:spcAft>
                <a:spcPts val="600"/>
              </a:spcAft>
            </a:pPr>
            <a:r>
              <a:rPr sz="2200" b="0" i="0">
                <a:solidFill>
                  <a:srgbClr val="000000"/>
                </a:solidFill>
                <a:latin typeface="Times New Roman"/>
              </a:rPr>
              <a:t>[5] Li et al., "Piracy Resistant Watermarks for Deep Neural Networks," arXiv:1910.01226, 2019.</a:t>
            </a:r>
          </a:p>
          <a:p>
            <a:pPr algn="l">
              <a:spcAft>
                <a:spcPts val="600"/>
              </a:spcAft>
            </a:pPr>
            <a:r>
              <a:rPr sz="2200" b="0" i="0">
                <a:solidFill>
                  <a:srgbClr val="000000"/>
                </a:solidFill>
                <a:latin typeface="Times New Roman"/>
              </a:rPr>
              <a:t>[6] Jia, Choquette-Choo, Chandrasekaran and Papernot, "Entangled Watermarks as a Defense against Model Extraction," USENIX Security, 2021.</a:t>
            </a:r>
          </a:p>
          <a:p>
            <a:pPr algn="l">
              <a:spcAft>
                <a:spcPts val="600"/>
              </a:spcAft>
            </a:pPr>
            <a:r>
              <a:rPr sz="2200" b="0" i="0">
                <a:solidFill>
                  <a:srgbClr val="000000"/>
                </a:solidFill>
                <a:latin typeface="Times New Roman"/>
              </a:rPr>
              <a:t>[7] Lukas, Jiang, Li and Kerschbaum, "SoK: How Robust is Image Classification Deep Neural Network Watermarking?," IEEE S&amp;P, 2022.</a:t>
            </a:r>
          </a:p>
          <a:p>
            <a:pPr algn="l">
              <a:spcAft>
                <a:spcPts val="600"/>
              </a:spcAft>
            </a:pPr>
            <a:r>
              <a:rPr sz="2200" b="0" i="0">
                <a:solidFill>
                  <a:srgbClr val="000000"/>
                </a:solidFill>
                <a:latin typeface="Times New Roman"/>
              </a:rPr>
              <a:t>[8] Sheybani, Ghodsi, Kapila and Koushanfar, "ZKROWNN: Zero Knowledge Right of Ownership for Neural Networks," DAC, 2023.</a:t>
            </a:r>
          </a:p>
          <a:p>
            <a:pPr algn="l">
              <a:spcAft>
                <a:spcPts val="600"/>
              </a:spcAft>
            </a:pPr>
            <a:r>
              <a:rPr sz="2200" b="0" i="0">
                <a:solidFill>
                  <a:srgbClr val="000000"/>
                </a:solidFill>
                <a:latin typeface="Times New Roman"/>
              </a:rPr>
              <a:t>[9] Yang et al., "FedZKP: Federated Model Ownership Verification with Zero-knowledge Proof," arXiv:2305.04507, 2023.</a:t>
            </a:r>
          </a:p>
          <a:p>
            <a:pPr algn="l">
              <a:spcAft>
                <a:spcPts val="600"/>
              </a:spcAft>
            </a:pPr>
            <a:r>
              <a:rPr sz="2200" b="0" i="0">
                <a:solidFill>
                  <a:srgbClr val="000000"/>
                </a:solidFill>
                <a:latin typeface="Times New Roman"/>
              </a:rPr>
              <a:t>[10] Yao, Song and Jin, "Hashed Watermark as a Filter: Defeating Forging and Overwriting Attacks in Weight-based Neural Network Watermarking," AAAI,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37530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txBody>
            <a:bodyPr/>
            <a:lstStyle/>
            <a:p>
              <a:endParaRPr lang="en-US"/>
            </a:p>
          </p:txBody>
        </p:sp>
        <p:sp>
          <p:nvSpPr>
            <p:cNvPr id="4" name="TextBox 4"/>
            <p:cNvSpPr txBox="1"/>
            <p:nvPr/>
          </p:nvSpPr>
          <p:spPr>
            <a:xfrm>
              <a:off x="0" y="-38100"/>
              <a:ext cx="21031200" cy="2689225"/>
            </a:xfrm>
            <a:prstGeom prst="rect">
              <a:avLst/>
            </a:prstGeom>
          </p:spPr>
          <p:txBody>
            <a:bodyPr lIns="0" tIns="0" rIns="0" bIns="0" rtlCol="0" anchor="ctr"/>
            <a:lstStyle/>
            <a:p>
              <a:pPr algn="ctr">
                <a:lnSpc>
                  <a:spcPts val="9720"/>
                </a:lnSpc>
              </a:pPr>
              <a:r>
                <a:rPr lang="en-US" sz="8100" b="1">
                  <a:solidFill>
                    <a:srgbClr val="073763"/>
                  </a:solidFill>
                  <a:latin typeface="Times New Roman Bold"/>
                  <a:ea typeface="Times New Roman Bold"/>
                  <a:cs typeface="Times New Roman Bold"/>
                  <a:sym typeface="Times New Roman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740</Words>
  <Application>Microsoft Office PowerPoint</Application>
  <PresentationFormat>Custom</PresentationFormat>
  <Paragraphs>129</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Times New Roman Bold</vt:lpstr>
      <vt:lpstr>Calibri</vt:lpstr>
      <vt:lpstr>Times New Roman</vt:lpstr>
      <vt:lpstr>Calibri (MS)</vt:lpstr>
      <vt:lpstr>Calibri (MS) Bold</vt:lpstr>
      <vt:lpstr>Times New Roman Italics</vt:lpstr>
      <vt:lpstr>Arial</vt:lpstr>
      <vt:lpstr>Times New Roman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AI Model Watermarking.pptx</dc:title>
  <cp:lastModifiedBy>Arfat Shaikh</cp:lastModifiedBy>
  <cp:revision>3</cp:revision>
  <dcterms:created xsi:type="dcterms:W3CDTF">2006-08-16T00:00:00Z</dcterms:created>
  <dcterms:modified xsi:type="dcterms:W3CDTF">2026-10-05T06:55:35Z</dcterms:modified>
  <dc:identifier>DAHRgsTid00</dc:identifier>
</cp:coreProperties>
</file>